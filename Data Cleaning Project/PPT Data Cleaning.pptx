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TC Avant Garde Gothic Bold" charset="1" panose="020B0802020202020204"/>
      <p:regular r:id="rId17"/>
    </p:embeddedFont>
    <p:embeddedFont>
      <p:font typeface="ITC Avant Garde Gothic" charset="1" panose="020B0502020202020204"/>
      <p:regular r:id="rId18"/>
    </p:embeddedFont>
    <p:embeddedFont>
      <p:font typeface="Canva Sans Bold" charset="1" panose="020B0803030501040103"/>
      <p:regular r:id="rId19"/>
    </p:embeddedFont>
    <p:embeddedFont>
      <p:font typeface="Canva Sans" charset="1" panose="020B0503030501040103"/>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11251494" y="3784922"/>
            <a:ext cx="7176367" cy="7087203"/>
            <a:chOff x="0" y="0"/>
            <a:chExt cx="1324398" cy="1307943"/>
          </a:xfrm>
        </p:grpSpPr>
        <p:sp>
          <p:nvSpPr>
            <p:cNvPr name="Freeform 3" id="3"/>
            <p:cNvSpPr/>
            <p:nvPr/>
          </p:nvSpPr>
          <p:spPr>
            <a:xfrm flipH="false" flipV="false" rot="0">
              <a:off x="0" y="0"/>
              <a:ext cx="1324397" cy="1307943"/>
            </a:xfrm>
            <a:custGeom>
              <a:avLst/>
              <a:gdLst/>
              <a:ahLst/>
              <a:cxnLst/>
              <a:rect r="r" b="b" t="t" l="l"/>
              <a:pathLst>
                <a:path h="1307943" w="1324397">
                  <a:moveTo>
                    <a:pt x="473267" y="77131"/>
                  </a:moveTo>
                  <a:lnTo>
                    <a:pt x="404467" y="249131"/>
                  </a:lnTo>
                  <a:cubicBezTo>
                    <a:pt x="385834" y="295713"/>
                    <a:pt x="340719" y="326259"/>
                    <a:pt x="290548" y="326262"/>
                  </a:cubicBezTo>
                  <a:lnTo>
                    <a:pt x="122702" y="326262"/>
                  </a:lnTo>
                  <a:cubicBezTo>
                    <a:pt x="54936" y="326262"/>
                    <a:pt x="1" y="381197"/>
                    <a:pt x="0" y="448963"/>
                  </a:cubicBezTo>
                  <a:lnTo>
                    <a:pt x="0" y="1185242"/>
                  </a:lnTo>
                  <a:cubicBezTo>
                    <a:pt x="1" y="1253008"/>
                    <a:pt x="54936" y="1307943"/>
                    <a:pt x="122702" y="1307943"/>
                  </a:cubicBezTo>
                  <a:lnTo>
                    <a:pt x="1201694" y="1307943"/>
                  </a:lnTo>
                  <a:cubicBezTo>
                    <a:pt x="1269460" y="1307943"/>
                    <a:pt x="1324396" y="1253008"/>
                    <a:pt x="1324397" y="1185242"/>
                  </a:cubicBezTo>
                  <a:lnTo>
                    <a:pt x="1324397" y="122701"/>
                  </a:lnTo>
                  <a:cubicBezTo>
                    <a:pt x="1324396" y="54935"/>
                    <a:pt x="1269461" y="1"/>
                    <a:pt x="1201696" y="0"/>
                  </a:cubicBezTo>
                  <a:lnTo>
                    <a:pt x="587191" y="0"/>
                  </a:lnTo>
                  <a:cubicBezTo>
                    <a:pt x="537018" y="0"/>
                    <a:pt x="491900" y="30547"/>
                    <a:pt x="473267" y="77131"/>
                  </a:cubicBezTo>
                  <a:close/>
                </a:path>
              </a:pathLst>
            </a:custGeom>
            <a:blipFill>
              <a:blip r:embed="rId2"/>
              <a:stretch>
                <a:fillRect l="-24253" t="0" r="-24253" b="0"/>
              </a:stretch>
            </a:blipFill>
          </p:spPr>
        </p:sp>
      </p:grpSp>
      <p:grpSp>
        <p:nvGrpSpPr>
          <p:cNvPr name="Group 4" id="4"/>
          <p:cNvGrpSpPr/>
          <p:nvPr/>
        </p:nvGrpSpPr>
        <p:grpSpPr>
          <a:xfrm rot="0">
            <a:off x="10069229" y="1204406"/>
            <a:ext cx="4772291" cy="47722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999"/>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9748756" y="8797011"/>
            <a:ext cx="1224203" cy="1224203"/>
          </a:xfrm>
          <a:custGeom>
            <a:avLst/>
            <a:gdLst/>
            <a:ahLst/>
            <a:cxnLst/>
            <a:rect r="r" b="b" t="t" l="l"/>
            <a:pathLst>
              <a:path h="1224203" w="1224203">
                <a:moveTo>
                  <a:pt x="0" y="0"/>
                </a:moveTo>
                <a:lnTo>
                  <a:pt x="1224202" y="0"/>
                </a:lnTo>
                <a:lnTo>
                  <a:pt x="1224202" y="1224203"/>
                </a:lnTo>
                <a:lnTo>
                  <a:pt x="0" y="1224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057879" y="351327"/>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469363" y="1604540"/>
            <a:ext cx="3972024" cy="39720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187" t="0" r="-25187" b="0"/>
              </a:stretch>
            </a:blipFill>
          </p:spPr>
        </p:sp>
      </p:grpSp>
      <p:sp>
        <p:nvSpPr>
          <p:cNvPr name="TextBox 11" id="11"/>
          <p:cNvSpPr txBox="true"/>
          <p:nvPr/>
        </p:nvSpPr>
        <p:spPr>
          <a:xfrm rot="0">
            <a:off x="819021" y="2158993"/>
            <a:ext cx="8811975" cy="4941571"/>
          </a:xfrm>
          <a:prstGeom prst="rect">
            <a:avLst/>
          </a:prstGeom>
        </p:spPr>
        <p:txBody>
          <a:bodyPr anchor="t" rtlCol="false" tIns="0" lIns="0" bIns="0" rIns="0">
            <a:spAutoFit/>
          </a:bodyPr>
          <a:lstStyle/>
          <a:p>
            <a:pPr algn="l">
              <a:lnSpc>
                <a:spcPts val="7440"/>
              </a:lnSpc>
            </a:pPr>
            <a:r>
              <a:rPr lang="en-US" sz="8000" b="true">
                <a:solidFill>
                  <a:srgbClr val="DA0C1A"/>
                </a:solidFill>
                <a:latin typeface="ITC Avant Garde Gothic Bold"/>
                <a:ea typeface="ITC Avant Garde Gothic Bold"/>
                <a:cs typeface="ITC Avant Garde Gothic Bold"/>
                <a:sym typeface="ITC Avant Garde Gothic Bold"/>
              </a:rPr>
              <a:t>PROJECT</a:t>
            </a:r>
          </a:p>
          <a:p>
            <a:pPr algn="l">
              <a:lnSpc>
                <a:spcPts val="7440"/>
              </a:lnSpc>
            </a:pPr>
            <a:r>
              <a:rPr lang="en-US" b="true" sz="8000">
                <a:solidFill>
                  <a:srgbClr val="DA0C1A"/>
                </a:solidFill>
                <a:latin typeface="ITC Avant Garde Gothic Bold"/>
                <a:ea typeface="ITC Avant Garde Gothic Bold"/>
                <a:cs typeface="ITC Avant Garde Gothic Bold"/>
                <a:sym typeface="ITC Avant Garde Gothic Bold"/>
              </a:rPr>
              <a:t>MULTI TOOLS DATA CLEANING: DIRTY CAFE SALES DATASET</a:t>
            </a:r>
            <a:r>
              <a:rPr lang="en-US" b="true" sz="8000">
                <a:solidFill>
                  <a:srgbClr val="D0E0ED"/>
                </a:solidFill>
                <a:latin typeface="ITC Avant Garde Gothic Bold"/>
                <a:ea typeface="ITC Avant Garde Gothic Bold"/>
                <a:cs typeface="ITC Avant Garde Gothic Bold"/>
                <a:sym typeface="ITC Avant Garde Gothic Bold"/>
              </a:rPr>
              <a:t>  </a:t>
            </a:r>
          </a:p>
        </p:txBody>
      </p:sp>
      <p:sp>
        <p:nvSpPr>
          <p:cNvPr name="TextBox 12" id="12"/>
          <p:cNvSpPr txBox="true"/>
          <p:nvPr/>
        </p:nvSpPr>
        <p:spPr>
          <a:xfrm rot="0">
            <a:off x="819021" y="9172575"/>
            <a:ext cx="4215331" cy="387350"/>
          </a:xfrm>
          <a:prstGeom prst="rect">
            <a:avLst/>
          </a:prstGeom>
        </p:spPr>
        <p:txBody>
          <a:bodyPr anchor="t" rtlCol="false" tIns="0" lIns="0" bIns="0" rIns="0">
            <a:spAutoFit/>
          </a:bodyPr>
          <a:lstStyle/>
          <a:p>
            <a:pPr algn="l">
              <a:lnSpc>
                <a:spcPts val="2800"/>
              </a:lnSpc>
              <a:spcBef>
                <a:spcPct val="0"/>
              </a:spcBef>
            </a:pPr>
            <a:r>
              <a:rPr lang="en-US" sz="2000" spc="-40">
                <a:solidFill>
                  <a:srgbClr val="DA0C1A"/>
                </a:solidFill>
                <a:latin typeface="ITC Avant Garde Gothic"/>
                <a:ea typeface="ITC Avant Garde Gothic"/>
                <a:cs typeface="ITC Avant Garde Gothic"/>
                <a:sym typeface="ITC Avant Garde Gothic"/>
              </a:rPr>
              <a:t>By: Farhah</a:t>
            </a:r>
          </a:p>
        </p:txBody>
      </p:sp>
      <p:sp>
        <p:nvSpPr>
          <p:cNvPr name="TextBox 13" id="13"/>
          <p:cNvSpPr txBox="true"/>
          <p:nvPr/>
        </p:nvSpPr>
        <p:spPr>
          <a:xfrm rot="0">
            <a:off x="819021" y="9546752"/>
            <a:ext cx="4215331" cy="387350"/>
          </a:xfrm>
          <a:prstGeom prst="rect">
            <a:avLst/>
          </a:prstGeom>
        </p:spPr>
        <p:txBody>
          <a:bodyPr anchor="t" rtlCol="false" tIns="0" lIns="0" bIns="0" rIns="0">
            <a:spAutoFit/>
          </a:bodyPr>
          <a:lstStyle/>
          <a:p>
            <a:pPr algn="l">
              <a:lnSpc>
                <a:spcPts val="2800"/>
              </a:lnSpc>
              <a:spcBef>
                <a:spcPct val="0"/>
              </a:spcBef>
            </a:pPr>
            <a:r>
              <a:rPr lang="en-US" sz="2000" spc="-40">
                <a:solidFill>
                  <a:srgbClr val="DA0C1A"/>
                </a:solidFill>
                <a:latin typeface="ITC Avant Garde Gothic"/>
                <a:ea typeface="ITC Avant Garde Gothic"/>
                <a:cs typeface="ITC Avant Garde Gothic"/>
                <a:sym typeface="ITC Avant Garde Gothic"/>
              </a:rPr>
              <a:t>July 2026</a:t>
            </a:r>
          </a:p>
        </p:txBody>
      </p:sp>
      <p:sp>
        <p:nvSpPr>
          <p:cNvPr name="TextBox 14" id="14"/>
          <p:cNvSpPr txBox="true"/>
          <p:nvPr/>
        </p:nvSpPr>
        <p:spPr>
          <a:xfrm rot="0">
            <a:off x="819021" y="7195814"/>
            <a:ext cx="7421325" cy="788670"/>
          </a:xfrm>
          <a:prstGeom prst="rect">
            <a:avLst/>
          </a:prstGeom>
        </p:spPr>
        <p:txBody>
          <a:bodyPr anchor="t" rtlCol="false" tIns="0" lIns="0" bIns="0" rIns="0">
            <a:spAutoFit/>
          </a:bodyPr>
          <a:lstStyle/>
          <a:p>
            <a:pPr algn="ctr">
              <a:lnSpc>
                <a:spcPts val="2790"/>
              </a:lnSpc>
            </a:pPr>
            <a:r>
              <a:rPr lang="en-US" sz="3000">
                <a:solidFill>
                  <a:srgbClr val="DA0C1A"/>
                </a:solidFill>
                <a:latin typeface="ITC Avant Garde Gothic"/>
                <a:ea typeface="ITC Avant Garde Gothic"/>
                <a:cs typeface="ITC Avant Garde Gothic"/>
                <a:sym typeface="ITC Avant Garde Gothic"/>
              </a:rPr>
              <a:t>USING: EXCEL [ FUNTIONS, POWER QUERY], SQL [CTE], PYTHON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7638553" y="3407652"/>
            <a:ext cx="8699614" cy="4757803"/>
            <a:chOff x="0" y="0"/>
            <a:chExt cx="719069" cy="393257"/>
          </a:xfrm>
        </p:grpSpPr>
        <p:sp>
          <p:nvSpPr>
            <p:cNvPr name="Freeform 3" id="3"/>
            <p:cNvSpPr/>
            <p:nvPr/>
          </p:nvSpPr>
          <p:spPr>
            <a:xfrm flipH="false" flipV="false" rot="0">
              <a:off x="0" y="0"/>
              <a:ext cx="719069" cy="393257"/>
            </a:xfrm>
            <a:custGeom>
              <a:avLst/>
              <a:gdLst/>
              <a:ahLst/>
              <a:cxnLst/>
              <a:rect r="r" b="b" t="t" l="l"/>
              <a:pathLst>
                <a:path h="393257" w="719069">
                  <a:moveTo>
                    <a:pt x="69413" y="0"/>
                  </a:moveTo>
                  <a:lnTo>
                    <a:pt x="649656" y="0"/>
                  </a:lnTo>
                  <a:cubicBezTo>
                    <a:pt x="687992" y="0"/>
                    <a:pt x="719069" y="31077"/>
                    <a:pt x="719069" y="69413"/>
                  </a:cubicBezTo>
                  <a:lnTo>
                    <a:pt x="719069" y="323844"/>
                  </a:lnTo>
                  <a:cubicBezTo>
                    <a:pt x="719069" y="342254"/>
                    <a:pt x="711756" y="359909"/>
                    <a:pt x="698738" y="372927"/>
                  </a:cubicBezTo>
                  <a:cubicBezTo>
                    <a:pt x="685721" y="385944"/>
                    <a:pt x="668065" y="393257"/>
                    <a:pt x="649656" y="393257"/>
                  </a:cubicBezTo>
                  <a:lnTo>
                    <a:pt x="69413" y="393257"/>
                  </a:lnTo>
                  <a:cubicBezTo>
                    <a:pt x="51004" y="393257"/>
                    <a:pt x="33348" y="385944"/>
                    <a:pt x="20331" y="372927"/>
                  </a:cubicBezTo>
                  <a:cubicBezTo>
                    <a:pt x="7313" y="359909"/>
                    <a:pt x="0" y="342254"/>
                    <a:pt x="0" y="323844"/>
                  </a:cubicBezTo>
                  <a:lnTo>
                    <a:pt x="0" y="69413"/>
                  </a:lnTo>
                  <a:cubicBezTo>
                    <a:pt x="0" y="51004"/>
                    <a:pt x="7313" y="33348"/>
                    <a:pt x="20331" y="20331"/>
                  </a:cubicBezTo>
                  <a:cubicBezTo>
                    <a:pt x="33348" y="7313"/>
                    <a:pt x="51004" y="0"/>
                    <a:pt x="69413" y="0"/>
                  </a:cubicBezTo>
                  <a:close/>
                </a:path>
              </a:pathLst>
            </a:custGeom>
            <a:blipFill>
              <a:blip r:embed="rId2"/>
              <a:stretch>
                <a:fillRect l="0" t="-10797" r="0" b="-10797"/>
              </a:stretch>
            </a:blipFill>
          </p:spPr>
        </p:sp>
      </p:grpSp>
      <p:grpSp>
        <p:nvGrpSpPr>
          <p:cNvPr name="Group 4" id="4"/>
          <p:cNvGrpSpPr/>
          <p:nvPr/>
        </p:nvGrpSpPr>
        <p:grpSpPr>
          <a:xfrm rot="0">
            <a:off x="13558646" y="735233"/>
            <a:ext cx="4225541" cy="42255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999"/>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3912937" y="1089525"/>
            <a:ext cx="3516959" cy="35169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p:spPr>
        </p:sp>
      </p:grpSp>
      <p:sp>
        <p:nvSpPr>
          <p:cNvPr name="Freeform 9" id="9"/>
          <p:cNvSpPr/>
          <p:nvPr/>
        </p:nvSpPr>
        <p:spPr>
          <a:xfrm flipH="false" flipV="false" rot="0">
            <a:off x="10776773" y="1028700"/>
            <a:ext cx="1224203" cy="1224203"/>
          </a:xfrm>
          <a:custGeom>
            <a:avLst/>
            <a:gdLst/>
            <a:ahLst/>
            <a:cxnLst/>
            <a:rect r="r" b="b" t="t" l="l"/>
            <a:pathLst>
              <a:path h="1224203" w="1224203">
                <a:moveTo>
                  <a:pt x="0" y="0"/>
                </a:moveTo>
                <a:lnTo>
                  <a:pt x="1224202" y="0"/>
                </a:lnTo>
                <a:lnTo>
                  <a:pt x="1224202" y="1224203"/>
                </a:lnTo>
                <a:lnTo>
                  <a:pt x="0" y="1224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109791" y="8969569"/>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374151" y="1085850"/>
            <a:ext cx="10259163" cy="1542523"/>
          </a:xfrm>
          <a:prstGeom prst="rect">
            <a:avLst/>
          </a:prstGeom>
        </p:spPr>
        <p:txBody>
          <a:bodyPr anchor="t" rtlCol="false" tIns="0" lIns="0" bIns="0" rIns="0">
            <a:spAutoFit/>
          </a:bodyPr>
          <a:lstStyle/>
          <a:p>
            <a:pPr algn="l">
              <a:lnSpc>
                <a:spcPts val="9802"/>
              </a:lnSpc>
            </a:pPr>
            <a:r>
              <a:rPr lang="en-US" b="true" sz="10540">
                <a:solidFill>
                  <a:srgbClr val="DA0C1A"/>
                </a:solidFill>
                <a:latin typeface="ITC Avant Garde Gothic Bold"/>
                <a:ea typeface="ITC Avant Garde Gothic Bold"/>
                <a:cs typeface="ITC Avant Garde Gothic Bold"/>
                <a:sym typeface="ITC Avant Garde Gothic Bold"/>
              </a:rPr>
              <a:t>DATA PROFILE</a:t>
            </a:r>
          </a:p>
        </p:txBody>
      </p:sp>
      <p:sp>
        <p:nvSpPr>
          <p:cNvPr name="TextBox 12" id="12"/>
          <p:cNvSpPr txBox="true"/>
          <p:nvPr/>
        </p:nvSpPr>
        <p:spPr>
          <a:xfrm rot="0">
            <a:off x="545601" y="3061452"/>
            <a:ext cx="6674423" cy="6028690"/>
          </a:xfrm>
          <a:prstGeom prst="rect">
            <a:avLst/>
          </a:prstGeom>
        </p:spPr>
        <p:txBody>
          <a:bodyPr anchor="t" rtlCol="false" tIns="0" lIns="0" bIns="0" rIns="0">
            <a:spAutoFit/>
          </a:bodyPr>
          <a:lstStyle/>
          <a:p>
            <a:pPr algn="just">
              <a:lnSpc>
                <a:spcPts val="2659"/>
              </a:lnSpc>
            </a:pPr>
            <a:r>
              <a:rPr lang="en-US" sz="1899">
                <a:solidFill>
                  <a:srgbClr val="DA0C1A"/>
                </a:solidFill>
                <a:latin typeface="ITC Avant Garde Gothic"/>
                <a:ea typeface="ITC Avant Garde Gothic"/>
                <a:cs typeface="ITC Avant Garde Gothic"/>
                <a:sym typeface="ITC Avant Garde Gothic"/>
              </a:rPr>
              <a:t>Di</a:t>
            </a:r>
            <a:r>
              <a:rPr lang="en-US" sz="1899">
                <a:solidFill>
                  <a:srgbClr val="DA0C1A"/>
                </a:solidFill>
                <a:latin typeface="ITC Avant Garde Gothic"/>
                <a:ea typeface="ITC Avant Garde Gothic"/>
                <a:cs typeface="ITC Avant Garde Gothic"/>
                <a:sym typeface="ITC Avant Garde Gothic"/>
              </a:rPr>
              <a:t>rty Cafe Sales Dataset is a synthetic dataset containing 10,000 cafe sales transactions across 8 variables: Transaction ID, Item, Quantity, Price Per Unit, Total Spent, Payment Method, Location, and Transaction Date.</a:t>
            </a:r>
          </a:p>
          <a:p>
            <a:pPr algn="just">
              <a:lnSpc>
                <a:spcPts val="2659"/>
              </a:lnSpc>
            </a:pPr>
          </a:p>
          <a:p>
            <a:pPr algn="just">
              <a:lnSpc>
                <a:spcPts val="2659"/>
              </a:lnSpc>
            </a:pPr>
            <a:r>
              <a:rPr lang="en-US" sz="1899">
                <a:solidFill>
                  <a:srgbClr val="DA0C1A"/>
                </a:solidFill>
                <a:latin typeface="ITC Avant Garde Gothic"/>
                <a:ea typeface="ITC Avant Garde Gothic"/>
                <a:cs typeface="ITC Avant Garde Gothic"/>
                <a:sym typeface="ITC Avant Garde Gothic"/>
              </a:rPr>
              <a:t>The dataset intentionally contains various data quality issues, including missing values, UNKNOWN and ERROR entries, and inconsistencies in numeric and date fields.</a:t>
            </a:r>
          </a:p>
          <a:p>
            <a:pPr algn="just">
              <a:lnSpc>
                <a:spcPts val="2659"/>
              </a:lnSpc>
            </a:pPr>
          </a:p>
          <a:p>
            <a:pPr algn="just">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It contains 8 menu items: Coffee, Tea, Sandwich, Salad, Cake, Cookie, Smoothie, and Juice. The relationship between Quantity, Price Per Unit, and Total Spent is used as the mai</a:t>
            </a:r>
            <a:r>
              <a:rPr lang="en-US" sz="1899">
                <a:solidFill>
                  <a:srgbClr val="DA0C1A"/>
                </a:solidFill>
                <a:latin typeface="ITC Avant Garde Gothic"/>
                <a:ea typeface="ITC Avant Garde Gothic"/>
                <a:cs typeface="ITC Avant Garde Gothic"/>
                <a:sym typeface="ITC Avant Garde Gothic"/>
              </a:rPr>
              <a:t>n business rule for data recovery and validation.</a:t>
            </a:r>
          </a:p>
          <a:p>
            <a:pPr algn="just">
              <a:lnSpc>
                <a:spcPts val="2659"/>
              </a:lnSpc>
              <a:spcBef>
                <a:spcPct val="0"/>
              </a:spcBef>
            </a:pPr>
          </a:p>
          <a:p>
            <a:pPr algn="just">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Project Objective: To clean, standardize, validate, and transform the dataset into a clean and analysis-ready dataset.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sp>
        <p:nvSpPr>
          <p:cNvPr name="TextBox 2" id="2"/>
          <p:cNvSpPr txBox="true"/>
          <p:nvPr/>
        </p:nvSpPr>
        <p:spPr>
          <a:xfrm rot="0">
            <a:off x="3117700" y="478488"/>
            <a:ext cx="12052600" cy="872490"/>
          </a:xfrm>
          <a:prstGeom prst="rect">
            <a:avLst/>
          </a:prstGeom>
        </p:spPr>
        <p:txBody>
          <a:bodyPr anchor="t" rtlCol="false" tIns="0" lIns="0" bIns="0" rIns="0">
            <a:spAutoFit/>
          </a:bodyPr>
          <a:lstStyle/>
          <a:p>
            <a:pPr algn="l">
              <a:lnSpc>
                <a:spcPts val="5580"/>
              </a:lnSpc>
            </a:pPr>
            <a:r>
              <a:rPr lang="en-US" b="true" sz="6000">
                <a:solidFill>
                  <a:srgbClr val="DA0C1A"/>
                </a:solidFill>
                <a:latin typeface="ITC Avant Garde Gothic Bold"/>
                <a:ea typeface="ITC Avant Garde Gothic Bold"/>
                <a:cs typeface="ITC Avant Garde Gothic Bold"/>
                <a:sym typeface="ITC Avant Garde Gothic Bold"/>
              </a:rPr>
              <a:t>TOTAL BLANKS &amp; DATA UNIQUE</a:t>
            </a:r>
          </a:p>
        </p:txBody>
      </p:sp>
      <p:grpSp>
        <p:nvGrpSpPr>
          <p:cNvPr name="Group 3" id="3"/>
          <p:cNvGrpSpPr/>
          <p:nvPr/>
        </p:nvGrpSpPr>
        <p:grpSpPr>
          <a:xfrm rot="0">
            <a:off x="-983170" y="7469196"/>
            <a:ext cx="3807248" cy="380724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BF3E7"/>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950334" y="-1687729"/>
            <a:ext cx="4256232" cy="425623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DA0C1A">
                  <a:alpha val="26667"/>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7107115" y="9112155"/>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10" id="10"/>
          <p:cNvGraphicFramePr>
            <a:graphicFrameLocks noGrp="true"/>
          </p:cNvGraphicFramePr>
          <p:nvPr/>
        </p:nvGraphicFramePr>
        <p:xfrm>
          <a:off x="1577679" y="2111408"/>
          <a:ext cx="2840959" cy="1352550"/>
        </p:xfrm>
        <a:graphic>
          <a:graphicData uri="http://schemas.openxmlformats.org/drawingml/2006/table">
            <a:tbl>
              <a:tblPr/>
              <a:tblGrid>
                <a:gridCol w="1094228"/>
                <a:gridCol w="1094228"/>
              </a:tblGrid>
              <a:tr h="676275">
                <a:tc>
                  <a:txBody>
                    <a:bodyPr anchor="t" rtlCol="false"/>
                    <a:lstStyle/>
                    <a:p>
                      <a:pPr algn="l">
                        <a:lnSpc>
                          <a:spcPts val="1680"/>
                        </a:lnSpc>
                        <a:defRPr/>
                      </a:pPr>
                      <a:r>
                        <a:rPr lang="en-US" sz="1200" b="true">
                          <a:solidFill>
                            <a:srgbClr val="DA0C1A"/>
                          </a:solidFill>
                          <a:latin typeface="Canva Sans Bold"/>
                          <a:ea typeface="Canva Sans Bold"/>
                          <a:cs typeface="Canva Sans Bold"/>
                          <a:sym typeface="Canva Sans Bold"/>
                        </a:rPr>
                        <a:t>Total Colums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80"/>
                        </a:lnSpc>
                        <a:defRPr/>
                      </a:pPr>
                      <a:r>
                        <a:rPr lang="en-US" sz="1200">
                          <a:solidFill>
                            <a:srgbClr val="DA0C1A"/>
                          </a:solidFill>
                          <a:latin typeface="Canva Sans"/>
                          <a:ea typeface="Canva Sans"/>
                          <a:cs typeface="Canva Sans"/>
                          <a:sym typeface="Canva Sans"/>
                        </a:rPr>
                        <a:t>8</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76275">
                <a:tc>
                  <a:txBody>
                    <a:bodyPr anchor="t" rtlCol="false"/>
                    <a:lstStyle/>
                    <a:p>
                      <a:pPr algn="l">
                        <a:lnSpc>
                          <a:spcPts val="1680"/>
                        </a:lnSpc>
                        <a:defRPr/>
                      </a:pPr>
                      <a:r>
                        <a:rPr lang="en-US" sz="1200" b="true">
                          <a:solidFill>
                            <a:srgbClr val="DA0C1A"/>
                          </a:solidFill>
                          <a:latin typeface="Canva Sans Bold"/>
                          <a:ea typeface="Canva Sans Bold"/>
                          <a:cs typeface="Canva Sans Bold"/>
                          <a:sym typeface="Canva Sans Bold"/>
                        </a:rPr>
                        <a:t>Total Rows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80"/>
                        </a:lnSpc>
                        <a:defRPr/>
                      </a:pPr>
                      <a:r>
                        <a:rPr lang="en-US" sz="1200">
                          <a:solidFill>
                            <a:srgbClr val="DA0C1A"/>
                          </a:solidFill>
                          <a:latin typeface="Canva Sans"/>
                          <a:ea typeface="Canva Sans"/>
                          <a:cs typeface="Canva Sans"/>
                          <a:sym typeface="Canva Sans"/>
                        </a:rPr>
                        <a:t>10.000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graphicFrame>
        <p:nvGraphicFramePr>
          <p:cNvPr name="Table 11" id="11"/>
          <p:cNvGraphicFramePr>
            <a:graphicFrameLocks noGrp="true"/>
          </p:cNvGraphicFramePr>
          <p:nvPr/>
        </p:nvGraphicFramePr>
        <p:xfrm>
          <a:off x="1577679" y="4414219"/>
          <a:ext cx="6013269" cy="5295900"/>
        </p:xfrm>
        <a:graphic>
          <a:graphicData uri="http://schemas.openxmlformats.org/drawingml/2006/table">
            <a:tbl>
              <a:tblPr/>
              <a:tblGrid>
                <a:gridCol w="1830875"/>
                <a:gridCol w="1554066"/>
                <a:gridCol w="1258802"/>
                <a:gridCol w="1369526"/>
              </a:tblGrid>
              <a:tr h="661988">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Total Unknown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Total Error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Total Blank</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Item</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344</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292</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333</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Quantity</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171</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170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138</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Price Per Unit</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164</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190</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179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Total Spent</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165</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164</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173</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Payment Method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293</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306</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2579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Location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338</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358</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3265</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1988">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Transaction Date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159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142</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159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graphicFrame>
        <p:nvGraphicFramePr>
          <p:cNvPr name="Table 12" id="12"/>
          <p:cNvGraphicFramePr>
            <a:graphicFrameLocks noGrp="true"/>
          </p:cNvGraphicFramePr>
          <p:nvPr/>
        </p:nvGraphicFramePr>
        <p:xfrm>
          <a:off x="9144000" y="1981943"/>
          <a:ext cx="7149482" cy="7983291"/>
        </p:xfrm>
        <a:graphic>
          <a:graphicData uri="http://schemas.openxmlformats.org/drawingml/2006/table">
            <a:tbl>
              <a:tblPr/>
              <a:tblGrid>
                <a:gridCol w="2383161"/>
                <a:gridCol w="2383161"/>
                <a:gridCol w="2383161"/>
              </a:tblGrid>
              <a:tr h="665274">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Item Unique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Payment Method Unique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b="true" sz="1200">
                          <a:solidFill>
                            <a:srgbClr val="DA0C1A"/>
                          </a:solidFill>
                          <a:latin typeface="Canva Sans Bold"/>
                          <a:ea typeface="Canva Sans Bold"/>
                          <a:cs typeface="Canva Sans Bold"/>
                          <a:sym typeface="Canva Sans Bold"/>
                        </a:rPr>
                        <a:t>Location Unique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Coffee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Credit Card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Takeaway</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Cake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Cash</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In-Store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Cookie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UNKNOWN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UNKNOWN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Salad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Digital Wallet</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Blanks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Smoothie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ERROR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ERROR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UNKNOWN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r>
                        <a:rPr lang="en-US" sz="1200">
                          <a:solidFill>
                            <a:srgbClr val="DA0C1A"/>
                          </a:solidFill>
                          <a:latin typeface="Canva Sans"/>
                          <a:ea typeface="Canva Sans"/>
                          <a:cs typeface="Canva Sans"/>
                          <a:sym typeface="Canva Sans"/>
                        </a:rPr>
                        <a:t>BLANKS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S</a:t>
                      </a:r>
                      <a:r>
                        <a:rPr lang="en-US" sz="1200">
                          <a:solidFill>
                            <a:srgbClr val="DA0C1A"/>
                          </a:solidFill>
                          <a:latin typeface="Canva Sans"/>
                          <a:ea typeface="Canva Sans"/>
                          <a:cs typeface="Canva Sans"/>
                          <a:sym typeface="Canva Sans"/>
                        </a:rPr>
                        <a:t>andwich</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B</a:t>
                      </a:r>
                      <a:r>
                        <a:rPr lang="en-US" sz="1200">
                          <a:solidFill>
                            <a:srgbClr val="DA0C1A"/>
                          </a:solidFill>
                          <a:latin typeface="Canva Sans"/>
                          <a:ea typeface="Canva Sans"/>
                          <a:cs typeface="Canva Sans"/>
                          <a:sym typeface="Canva Sans"/>
                        </a:rPr>
                        <a:t>lanks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ERROR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Juice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665274">
                <a:tc>
                  <a:txBody>
                    <a:bodyPr anchor="t" rtlCol="false"/>
                    <a:lstStyle/>
                    <a:p>
                      <a:pPr algn="ctr">
                        <a:lnSpc>
                          <a:spcPts val="1679"/>
                        </a:lnSpc>
                        <a:defRPr/>
                      </a:pPr>
                      <a:r>
                        <a:rPr lang="en-US" sz="1200">
                          <a:solidFill>
                            <a:srgbClr val="DA0C1A"/>
                          </a:solidFill>
                          <a:latin typeface="Canva Sans"/>
                          <a:ea typeface="Canva Sans"/>
                          <a:cs typeface="Canva Sans"/>
                          <a:sym typeface="Canva Sans"/>
                        </a:rPr>
                        <a:t>Tea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167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13" id="13"/>
          <p:cNvSpPr txBox="true"/>
          <p:nvPr/>
        </p:nvSpPr>
        <p:spPr>
          <a:xfrm rot="0">
            <a:off x="1577679" y="1694288"/>
            <a:ext cx="3365800" cy="287655"/>
          </a:xfrm>
          <a:prstGeom prst="rect">
            <a:avLst/>
          </a:prstGeom>
        </p:spPr>
        <p:txBody>
          <a:bodyPr anchor="t" rtlCol="false" tIns="0" lIns="0" bIns="0" rIns="0">
            <a:spAutoFit/>
          </a:bodyPr>
          <a:lstStyle/>
          <a:p>
            <a:pPr algn="l">
              <a:lnSpc>
                <a:spcPts val="1860"/>
              </a:lnSpc>
            </a:pPr>
            <a:r>
              <a:rPr lang="en-US" b="true" sz="2000">
                <a:solidFill>
                  <a:srgbClr val="DA0C1A"/>
                </a:solidFill>
                <a:latin typeface="ITC Avant Garde Gothic Bold"/>
                <a:ea typeface="ITC Avant Garde Gothic Bold"/>
                <a:cs typeface="ITC Avant Garde Gothic Bold"/>
                <a:sym typeface="ITC Avant Garde Gothic Bold"/>
              </a:rPr>
              <a:t>INFORMATION OF DATA</a:t>
            </a:r>
          </a:p>
        </p:txBody>
      </p:sp>
      <p:sp>
        <p:nvSpPr>
          <p:cNvPr name="TextBox 14" id="14"/>
          <p:cNvSpPr txBox="true"/>
          <p:nvPr/>
        </p:nvSpPr>
        <p:spPr>
          <a:xfrm rot="0">
            <a:off x="1577679" y="3993214"/>
            <a:ext cx="2251611" cy="287655"/>
          </a:xfrm>
          <a:prstGeom prst="rect">
            <a:avLst/>
          </a:prstGeom>
        </p:spPr>
        <p:txBody>
          <a:bodyPr anchor="t" rtlCol="false" tIns="0" lIns="0" bIns="0" rIns="0">
            <a:spAutoFit/>
          </a:bodyPr>
          <a:lstStyle/>
          <a:p>
            <a:pPr algn="l">
              <a:lnSpc>
                <a:spcPts val="1860"/>
              </a:lnSpc>
            </a:pPr>
            <a:r>
              <a:rPr lang="en-US" b="true" sz="2000">
                <a:solidFill>
                  <a:srgbClr val="DA0C1A"/>
                </a:solidFill>
                <a:latin typeface="ITC Avant Garde Gothic Bold"/>
                <a:ea typeface="ITC Avant Garde Gothic Bold"/>
                <a:cs typeface="ITC Avant Garde Gothic Bold"/>
                <a:sym typeface="ITC Avant Garde Gothic Bold"/>
              </a:rPr>
              <a:t>TOTAL BLANKS</a:t>
            </a:r>
          </a:p>
        </p:txBody>
      </p:sp>
      <p:sp>
        <p:nvSpPr>
          <p:cNvPr name="TextBox 15" id="15"/>
          <p:cNvSpPr txBox="true"/>
          <p:nvPr/>
        </p:nvSpPr>
        <p:spPr>
          <a:xfrm rot="0">
            <a:off x="9144000" y="1527395"/>
            <a:ext cx="2251611" cy="287655"/>
          </a:xfrm>
          <a:prstGeom prst="rect">
            <a:avLst/>
          </a:prstGeom>
        </p:spPr>
        <p:txBody>
          <a:bodyPr anchor="t" rtlCol="false" tIns="0" lIns="0" bIns="0" rIns="0">
            <a:spAutoFit/>
          </a:bodyPr>
          <a:lstStyle/>
          <a:p>
            <a:pPr algn="l">
              <a:lnSpc>
                <a:spcPts val="1860"/>
              </a:lnSpc>
            </a:pPr>
            <a:r>
              <a:rPr lang="en-US" b="true" sz="2000">
                <a:solidFill>
                  <a:srgbClr val="DA0C1A"/>
                </a:solidFill>
                <a:latin typeface="ITC Avant Garde Gothic Bold"/>
                <a:ea typeface="ITC Avant Garde Gothic Bold"/>
                <a:cs typeface="ITC Avant Garde Gothic Bold"/>
                <a:sym typeface="ITC Avant Garde Gothic Bold"/>
              </a:rPr>
              <a:t>DATA UNIQUE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9447716" y="1494619"/>
            <a:ext cx="7368266" cy="4757803"/>
            <a:chOff x="0" y="0"/>
            <a:chExt cx="609026" cy="393257"/>
          </a:xfrm>
        </p:grpSpPr>
        <p:sp>
          <p:nvSpPr>
            <p:cNvPr name="Freeform 3" id="3"/>
            <p:cNvSpPr/>
            <p:nvPr/>
          </p:nvSpPr>
          <p:spPr>
            <a:xfrm flipH="false" flipV="false" rot="0">
              <a:off x="0" y="0"/>
              <a:ext cx="609026" cy="393257"/>
            </a:xfrm>
            <a:custGeom>
              <a:avLst/>
              <a:gdLst/>
              <a:ahLst/>
              <a:cxnLst/>
              <a:rect r="r" b="b" t="t" l="l"/>
              <a:pathLst>
                <a:path h="393257" w="609026">
                  <a:moveTo>
                    <a:pt x="81955" y="0"/>
                  </a:moveTo>
                  <a:lnTo>
                    <a:pt x="527071" y="0"/>
                  </a:lnTo>
                  <a:cubicBezTo>
                    <a:pt x="572333" y="0"/>
                    <a:pt x="609026" y="36693"/>
                    <a:pt x="609026" y="81955"/>
                  </a:cubicBezTo>
                  <a:lnTo>
                    <a:pt x="609026" y="311302"/>
                  </a:lnTo>
                  <a:cubicBezTo>
                    <a:pt x="609026" y="356565"/>
                    <a:pt x="572333" y="393257"/>
                    <a:pt x="527071" y="393257"/>
                  </a:cubicBezTo>
                  <a:lnTo>
                    <a:pt x="81955" y="393257"/>
                  </a:lnTo>
                  <a:cubicBezTo>
                    <a:pt x="36693" y="393257"/>
                    <a:pt x="0" y="356565"/>
                    <a:pt x="0" y="311302"/>
                  </a:cubicBezTo>
                  <a:lnTo>
                    <a:pt x="0" y="81955"/>
                  </a:lnTo>
                  <a:cubicBezTo>
                    <a:pt x="0" y="36693"/>
                    <a:pt x="36693" y="0"/>
                    <a:pt x="81955" y="0"/>
                  </a:cubicBezTo>
                  <a:close/>
                </a:path>
              </a:pathLst>
            </a:custGeom>
            <a:blipFill>
              <a:blip r:embed="rId2"/>
              <a:stretch>
                <a:fillRect l="0" t="-1493" r="0" b="-1493"/>
              </a:stretch>
            </a:blipFill>
          </p:spPr>
        </p:sp>
      </p:grpSp>
      <p:sp>
        <p:nvSpPr>
          <p:cNvPr name="Freeform 4" id="4"/>
          <p:cNvSpPr/>
          <p:nvPr/>
        </p:nvSpPr>
        <p:spPr>
          <a:xfrm flipH="false" flipV="false" rot="0">
            <a:off x="16647199" y="8646199"/>
            <a:ext cx="1224203" cy="1224203"/>
          </a:xfrm>
          <a:custGeom>
            <a:avLst/>
            <a:gdLst/>
            <a:ahLst/>
            <a:cxnLst/>
            <a:rect r="r" b="b" t="t" l="l"/>
            <a:pathLst>
              <a:path h="1224203" w="1224203">
                <a:moveTo>
                  <a:pt x="0" y="0"/>
                </a:moveTo>
                <a:lnTo>
                  <a:pt x="1224202" y="0"/>
                </a:lnTo>
                <a:lnTo>
                  <a:pt x="1224202" y="1224202"/>
                </a:lnTo>
                <a:lnTo>
                  <a:pt x="0" y="12242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448663" y="551248"/>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409700" y="4076700"/>
            <a:ext cx="6076950" cy="4449290"/>
            <a:chOff x="0" y="0"/>
            <a:chExt cx="1600514" cy="1171829"/>
          </a:xfrm>
        </p:grpSpPr>
        <p:sp>
          <p:nvSpPr>
            <p:cNvPr name="Freeform 7" id="7"/>
            <p:cNvSpPr/>
            <p:nvPr/>
          </p:nvSpPr>
          <p:spPr>
            <a:xfrm flipH="false" flipV="false" rot="0">
              <a:off x="0" y="0"/>
              <a:ext cx="1600514" cy="1171829"/>
            </a:xfrm>
            <a:custGeom>
              <a:avLst/>
              <a:gdLst/>
              <a:ahLst/>
              <a:cxnLst/>
              <a:rect r="r" b="b" t="t" l="l"/>
              <a:pathLst>
                <a:path h="1171829" w="1600514">
                  <a:moveTo>
                    <a:pt x="64973" y="0"/>
                  </a:moveTo>
                  <a:lnTo>
                    <a:pt x="1535540" y="0"/>
                  </a:lnTo>
                  <a:cubicBezTo>
                    <a:pt x="1552772" y="0"/>
                    <a:pt x="1569299" y="6845"/>
                    <a:pt x="1581483" y="19030"/>
                  </a:cubicBezTo>
                  <a:cubicBezTo>
                    <a:pt x="1593668" y="31215"/>
                    <a:pt x="1600514" y="47741"/>
                    <a:pt x="1600514" y="64973"/>
                  </a:cubicBezTo>
                  <a:lnTo>
                    <a:pt x="1600514" y="1106856"/>
                  </a:lnTo>
                  <a:cubicBezTo>
                    <a:pt x="1600514" y="1124088"/>
                    <a:pt x="1593668" y="1140614"/>
                    <a:pt x="1581483" y="1152799"/>
                  </a:cubicBezTo>
                  <a:cubicBezTo>
                    <a:pt x="1569299" y="1164984"/>
                    <a:pt x="1552772" y="1171829"/>
                    <a:pt x="1535540" y="1171829"/>
                  </a:cubicBezTo>
                  <a:lnTo>
                    <a:pt x="64973" y="1171829"/>
                  </a:lnTo>
                  <a:cubicBezTo>
                    <a:pt x="47741" y="1171829"/>
                    <a:pt x="31215" y="1164984"/>
                    <a:pt x="19030" y="1152799"/>
                  </a:cubicBezTo>
                  <a:cubicBezTo>
                    <a:pt x="6845" y="1140614"/>
                    <a:pt x="0" y="1124088"/>
                    <a:pt x="0" y="1106856"/>
                  </a:cubicBezTo>
                  <a:lnTo>
                    <a:pt x="0" y="64973"/>
                  </a:lnTo>
                  <a:cubicBezTo>
                    <a:pt x="0" y="47741"/>
                    <a:pt x="6845" y="31215"/>
                    <a:pt x="19030" y="19030"/>
                  </a:cubicBezTo>
                  <a:cubicBezTo>
                    <a:pt x="31215" y="6845"/>
                    <a:pt x="47741" y="0"/>
                    <a:pt x="64973" y="0"/>
                  </a:cubicBezTo>
                  <a:close/>
                </a:path>
              </a:pathLst>
            </a:custGeom>
            <a:solidFill>
              <a:srgbClr val="FF9999"/>
            </a:solidFill>
          </p:spPr>
        </p:sp>
        <p:sp>
          <p:nvSpPr>
            <p:cNvPr name="TextBox 8" id="8"/>
            <p:cNvSpPr txBox="true"/>
            <p:nvPr/>
          </p:nvSpPr>
          <p:spPr>
            <a:xfrm>
              <a:off x="0" y="-38100"/>
              <a:ext cx="1600514" cy="120992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15224" y="1015888"/>
            <a:ext cx="8628776" cy="2143836"/>
          </a:xfrm>
          <a:prstGeom prst="rect">
            <a:avLst/>
          </a:prstGeom>
        </p:spPr>
        <p:txBody>
          <a:bodyPr anchor="t" rtlCol="false" tIns="0" lIns="0" bIns="0" rIns="0">
            <a:spAutoFit/>
          </a:bodyPr>
          <a:lstStyle/>
          <a:p>
            <a:pPr algn="l">
              <a:lnSpc>
                <a:spcPts val="7510"/>
              </a:lnSpc>
            </a:pPr>
            <a:r>
              <a:rPr lang="en-US" b="true" sz="8076">
                <a:solidFill>
                  <a:srgbClr val="DA0C1A"/>
                </a:solidFill>
                <a:latin typeface="ITC Avant Garde Gothic Bold"/>
                <a:ea typeface="ITC Avant Garde Gothic Bold"/>
                <a:cs typeface="ITC Avant Garde Gothic Bold"/>
                <a:sym typeface="ITC Avant Garde Gothic Bold"/>
              </a:rPr>
              <a:t>DATA CLEANING PROCESS</a:t>
            </a:r>
          </a:p>
        </p:txBody>
      </p:sp>
      <p:sp>
        <p:nvSpPr>
          <p:cNvPr name="TextBox 10" id="10"/>
          <p:cNvSpPr txBox="true"/>
          <p:nvPr/>
        </p:nvSpPr>
        <p:spPr>
          <a:xfrm rot="0">
            <a:off x="717051" y="3564938"/>
            <a:ext cx="5061746" cy="350465"/>
          </a:xfrm>
          <a:prstGeom prst="rect">
            <a:avLst/>
          </a:prstGeom>
        </p:spPr>
        <p:txBody>
          <a:bodyPr anchor="t" rtlCol="false" tIns="0" lIns="0" bIns="0" rIns="0">
            <a:spAutoFit/>
          </a:bodyPr>
          <a:lstStyle/>
          <a:p>
            <a:pPr algn="l" marL="527412" indent="-263706" lvl="1">
              <a:lnSpc>
                <a:spcPts val="2271"/>
              </a:lnSpc>
              <a:buAutoNum type="arabicPeriod" startAt="1"/>
            </a:pPr>
            <a:r>
              <a:rPr lang="en-US" sz="2442">
                <a:solidFill>
                  <a:srgbClr val="DA0C1A"/>
                </a:solidFill>
                <a:latin typeface="ITC Avant Garde Gothic"/>
                <a:ea typeface="ITC Avant Garde Gothic"/>
                <a:cs typeface="ITC Avant Garde Gothic"/>
                <a:sym typeface="ITC Avant Garde Gothic"/>
              </a:rPr>
              <a:t>Standardize Missing Values</a:t>
            </a:r>
          </a:p>
        </p:txBody>
      </p:sp>
      <p:sp>
        <p:nvSpPr>
          <p:cNvPr name="TextBox 11" id="11"/>
          <p:cNvSpPr txBox="true"/>
          <p:nvPr/>
        </p:nvSpPr>
        <p:spPr>
          <a:xfrm rot="0">
            <a:off x="1804651" y="4453812"/>
            <a:ext cx="5434349" cy="3656965"/>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Canva Sans"/>
                <a:ea typeface="Canva Sans"/>
                <a:cs typeface="Canva Sans"/>
                <a:sym typeface="Canva Sans"/>
              </a:rPr>
              <a:t>numeric_cols = [</a:t>
            </a:r>
          </a:p>
          <a:p>
            <a:pPr algn="l">
              <a:lnSpc>
                <a:spcPts val="2659"/>
              </a:lnSpc>
              <a:spcBef>
                <a:spcPct val="0"/>
              </a:spcBef>
            </a:pPr>
            <a:r>
              <a:rPr lang="en-US" sz="1899">
                <a:solidFill>
                  <a:srgbClr val="FBF3E7"/>
                </a:solidFill>
                <a:latin typeface="Canva Sans"/>
                <a:ea typeface="Canva Sans"/>
                <a:cs typeface="Canva Sans"/>
                <a:sym typeface="Canva Sans"/>
              </a:rPr>
              <a:t>    'Quantity',</a:t>
            </a:r>
          </a:p>
          <a:p>
            <a:pPr algn="l">
              <a:lnSpc>
                <a:spcPts val="2659"/>
              </a:lnSpc>
              <a:spcBef>
                <a:spcPct val="0"/>
              </a:spcBef>
            </a:pPr>
            <a:r>
              <a:rPr lang="en-US" sz="1899">
                <a:solidFill>
                  <a:srgbClr val="FBF3E7"/>
                </a:solidFill>
                <a:latin typeface="Canva Sans"/>
                <a:ea typeface="Canva Sans"/>
                <a:cs typeface="Canva Sans"/>
                <a:sym typeface="Canva Sans"/>
              </a:rPr>
              <a:t>    'Price Per Unit',</a:t>
            </a:r>
          </a:p>
          <a:p>
            <a:pPr algn="l">
              <a:lnSpc>
                <a:spcPts val="2659"/>
              </a:lnSpc>
              <a:spcBef>
                <a:spcPct val="0"/>
              </a:spcBef>
            </a:pPr>
            <a:r>
              <a:rPr lang="en-US" sz="1899">
                <a:solidFill>
                  <a:srgbClr val="FBF3E7"/>
                </a:solidFill>
                <a:latin typeface="Canva Sans"/>
                <a:ea typeface="Canva Sans"/>
                <a:cs typeface="Canva Sans"/>
                <a:sym typeface="Canva Sans"/>
              </a:rPr>
              <a:t>    'Total Spent'</a:t>
            </a:r>
          </a:p>
          <a:p>
            <a:pPr algn="l">
              <a:lnSpc>
                <a:spcPts val="2659"/>
              </a:lnSpc>
              <a:spcBef>
                <a:spcPct val="0"/>
              </a:spcBef>
            </a:pPr>
            <a:r>
              <a:rPr lang="en-US" sz="1899">
                <a:solidFill>
                  <a:srgbClr val="FBF3E7"/>
                </a:solidFill>
                <a:latin typeface="Canva Sans"/>
                <a:ea typeface="Canva Sans"/>
                <a:cs typeface="Canva Sans"/>
                <a:sym typeface="Canva Sans"/>
              </a:rPr>
              <a:t>]</a:t>
            </a:r>
          </a:p>
          <a:p>
            <a:pPr algn="l">
              <a:lnSpc>
                <a:spcPts val="2659"/>
              </a:lnSpc>
              <a:spcBef>
                <a:spcPct val="0"/>
              </a:spcBef>
            </a:pPr>
          </a:p>
          <a:p>
            <a:pPr algn="l">
              <a:lnSpc>
                <a:spcPts val="2659"/>
              </a:lnSpc>
              <a:spcBef>
                <a:spcPct val="0"/>
              </a:spcBef>
            </a:pPr>
            <a:r>
              <a:rPr lang="en-US" sz="1899">
                <a:solidFill>
                  <a:srgbClr val="FBF3E7"/>
                </a:solidFill>
                <a:latin typeface="Canva Sans"/>
                <a:ea typeface="Canva Sans"/>
                <a:cs typeface="Canva Sans"/>
                <a:sym typeface="Canva Sans"/>
              </a:rPr>
              <a:t>for col in numeric_cols:</a:t>
            </a:r>
          </a:p>
          <a:p>
            <a:pPr algn="l">
              <a:lnSpc>
                <a:spcPts val="2659"/>
              </a:lnSpc>
              <a:spcBef>
                <a:spcPct val="0"/>
              </a:spcBef>
            </a:pPr>
            <a:r>
              <a:rPr lang="en-US" sz="1899">
                <a:solidFill>
                  <a:srgbClr val="FBF3E7"/>
                </a:solidFill>
                <a:latin typeface="Canva Sans"/>
                <a:ea typeface="Canva Sans"/>
                <a:cs typeface="Canva Sans"/>
                <a:sym typeface="Canva Sans"/>
              </a:rPr>
              <a:t>    df[col] = (</a:t>
            </a:r>
          </a:p>
          <a:p>
            <a:pPr algn="l">
              <a:lnSpc>
                <a:spcPts val="2659"/>
              </a:lnSpc>
              <a:spcBef>
                <a:spcPct val="0"/>
              </a:spcBef>
            </a:pPr>
            <a:r>
              <a:rPr lang="en-US" sz="1899">
                <a:solidFill>
                  <a:srgbClr val="FBF3E7"/>
                </a:solidFill>
                <a:latin typeface="Canva Sans"/>
                <a:ea typeface="Canva Sans"/>
                <a:cs typeface="Canva Sans"/>
                <a:sym typeface="Canva Sans"/>
              </a:rPr>
              <a:t>        df[col]</a:t>
            </a:r>
          </a:p>
          <a:p>
            <a:pPr algn="l">
              <a:lnSpc>
                <a:spcPts val="2659"/>
              </a:lnSpc>
              <a:spcBef>
                <a:spcPct val="0"/>
              </a:spcBef>
            </a:pPr>
            <a:r>
              <a:rPr lang="en-US" sz="1899">
                <a:solidFill>
                  <a:srgbClr val="FBF3E7"/>
                </a:solidFill>
                <a:latin typeface="Canva Sans"/>
                <a:ea typeface="Canva Sans"/>
                <a:cs typeface="Canva Sans"/>
                <a:sym typeface="Canva Sans"/>
              </a:rPr>
              <a:t>        .replace(['UNKNOWN', 'ERROR', ''], np.nan)</a:t>
            </a:r>
          </a:p>
          <a:p>
            <a:pPr algn="l">
              <a:lnSpc>
                <a:spcPts val="2659"/>
              </a:lnSpc>
              <a:spcBef>
                <a:spcPct val="0"/>
              </a:spcBef>
            </a:pPr>
            <a:r>
              <a:rPr lang="en-US" sz="1899">
                <a:solidFill>
                  <a:srgbClr val="FBF3E7"/>
                </a:solidFill>
                <a:latin typeface="Canva Sans"/>
                <a:ea typeface="Canva Sans"/>
                <a:cs typeface="Canva Sans"/>
                <a:sym typeface="Canva Sans"/>
              </a:rPr>
              <a:t>    )</a:t>
            </a:r>
          </a:p>
        </p:txBody>
      </p:sp>
      <p:sp>
        <p:nvSpPr>
          <p:cNvPr name="TextBox 12" id="12"/>
          <p:cNvSpPr txBox="true"/>
          <p:nvPr/>
        </p:nvSpPr>
        <p:spPr>
          <a:xfrm rot="0">
            <a:off x="1773495" y="8611715"/>
            <a:ext cx="5465505" cy="1028065"/>
          </a:xfrm>
          <a:prstGeom prst="rect">
            <a:avLst/>
          </a:prstGeom>
        </p:spPr>
        <p:txBody>
          <a:bodyPr anchor="t" rtlCol="false" tIns="0" lIns="0" bIns="0" rIns="0">
            <a:spAutoFit/>
          </a:bodyPr>
          <a:lstStyle/>
          <a:p>
            <a:pPr algn="just">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Invalid numerical values such as UNKNOWN, ERROR, and blank strings were converted into NaN to make missing values easier to process.</a:t>
            </a:r>
          </a:p>
        </p:txBody>
      </p:sp>
      <p:sp>
        <p:nvSpPr>
          <p:cNvPr name="TextBox 13" id="13"/>
          <p:cNvSpPr txBox="true"/>
          <p:nvPr/>
        </p:nvSpPr>
        <p:spPr>
          <a:xfrm rot="0">
            <a:off x="9765801" y="6593888"/>
            <a:ext cx="5061746" cy="350465"/>
          </a:xfrm>
          <a:prstGeom prst="rect">
            <a:avLst/>
          </a:prstGeom>
        </p:spPr>
        <p:txBody>
          <a:bodyPr anchor="t" rtlCol="false" tIns="0" lIns="0" bIns="0" rIns="0">
            <a:spAutoFit/>
          </a:bodyPr>
          <a:lstStyle/>
          <a:p>
            <a:pPr algn="l" marL="527412" indent="-263706" lvl="1">
              <a:lnSpc>
                <a:spcPts val="2271"/>
              </a:lnSpc>
              <a:buAutoNum type="arabicPeriod" startAt="1"/>
            </a:pPr>
            <a:r>
              <a:rPr lang="en-US" sz="2442">
                <a:solidFill>
                  <a:srgbClr val="DA0C1A"/>
                </a:solidFill>
                <a:latin typeface="ITC Avant Garde Gothic"/>
                <a:ea typeface="ITC Avant Garde Gothic"/>
                <a:cs typeface="ITC Avant Garde Gothic"/>
                <a:sym typeface="ITC Avant Garde Gothic"/>
              </a:rPr>
              <a:t>Data Type Conversion</a:t>
            </a:r>
          </a:p>
        </p:txBody>
      </p:sp>
      <p:grpSp>
        <p:nvGrpSpPr>
          <p:cNvPr name="Group 14" id="14"/>
          <p:cNvGrpSpPr/>
          <p:nvPr/>
        </p:nvGrpSpPr>
        <p:grpSpPr>
          <a:xfrm rot="0">
            <a:off x="10360074" y="7110616"/>
            <a:ext cx="5543550" cy="677390"/>
            <a:chOff x="0" y="0"/>
            <a:chExt cx="1460030" cy="178407"/>
          </a:xfrm>
        </p:grpSpPr>
        <p:sp>
          <p:nvSpPr>
            <p:cNvPr name="Freeform 15" id="15"/>
            <p:cNvSpPr/>
            <p:nvPr/>
          </p:nvSpPr>
          <p:spPr>
            <a:xfrm flipH="false" flipV="false" rot="0">
              <a:off x="0" y="0"/>
              <a:ext cx="1460030" cy="178407"/>
            </a:xfrm>
            <a:custGeom>
              <a:avLst/>
              <a:gdLst/>
              <a:ahLst/>
              <a:cxnLst/>
              <a:rect r="r" b="b" t="t" l="l"/>
              <a:pathLst>
                <a:path h="178407" w="1460030">
                  <a:moveTo>
                    <a:pt x="71225" y="0"/>
                  </a:moveTo>
                  <a:lnTo>
                    <a:pt x="1388805" y="0"/>
                  </a:lnTo>
                  <a:cubicBezTo>
                    <a:pt x="1407695" y="0"/>
                    <a:pt x="1425811" y="7504"/>
                    <a:pt x="1439168" y="20861"/>
                  </a:cubicBezTo>
                  <a:cubicBezTo>
                    <a:pt x="1452526" y="34218"/>
                    <a:pt x="1460030" y="52335"/>
                    <a:pt x="1460030" y="71225"/>
                  </a:cubicBezTo>
                  <a:lnTo>
                    <a:pt x="1460030" y="107182"/>
                  </a:lnTo>
                  <a:cubicBezTo>
                    <a:pt x="1460030" y="126072"/>
                    <a:pt x="1452526" y="144189"/>
                    <a:pt x="1439168" y="157546"/>
                  </a:cubicBezTo>
                  <a:cubicBezTo>
                    <a:pt x="1425811" y="170903"/>
                    <a:pt x="1407695" y="178407"/>
                    <a:pt x="1388805" y="178407"/>
                  </a:cubicBezTo>
                  <a:lnTo>
                    <a:pt x="71225" y="178407"/>
                  </a:lnTo>
                  <a:cubicBezTo>
                    <a:pt x="52335" y="178407"/>
                    <a:pt x="34218" y="170903"/>
                    <a:pt x="20861" y="157546"/>
                  </a:cubicBezTo>
                  <a:cubicBezTo>
                    <a:pt x="7504" y="144189"/>
                    <a:pt x="0" y="126072"/>
                    <a:pt x="0" y="107182"/>
                  </a:cubicBezTo>
                  <a:lnTo>
                    <a:pt x="0" y="71225"/>
                  </a:lnTo>
                  <a:cubicBezTo>
                    <a:pt x="0" y="52335"/>
                    <a:pt x="7504" y="34218"/>
                    <a:pt x="20861" y="20861"/>
                  </a:cubicBezTo>
                  <a:cubicBezTo>
                    <a:pt x="34218" y="7504"/>
                    <a:pt x="52335" y="0"/>
                    <a:pt x="71225" y="0"/>
                  </a:cubicBezTo>
                  <a:close/>
                </a:path>
              </a:pathLst>
            </a:custGeom>
            <a:solidFill>
              <a:srgbClr val="FF9999"/>
            </a:solidFill>
          </p:spPr>
        </p:sp>
        <p:sp>
          <p:nvSpPr>
            <p:cNvPr name="TextBox 16" id="16"/>
            <p:cNvSpPr txBox="true"/>
            <p:nvPr/>
          </p:nvSpPr>
          <p:spPr>
            <a:xfrm>
              <a:off x="0" y="-38100"/>
              <a:ext cx="1460030" cy="216507"/>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590876" y="7268653"/>
            <a:ext cx="5081945" cy="323215"/>
          </a:xfrm>
          <a:prstGeom prst="rect">
            <a:avLst/>
          </a:prstGeom>
        </p:spPr>
        <p:txBody>
          <a:bodyPr anchor="t" rtlCol="false" tIns="0" lIns="0" bIns="0" rIns="0">
            <a:spAutoFit/>
          </a:bodyPr>
          <a:lstStyle/>
          <a:p>
            <a:pPr algn="ctr">
              <a:lnSpc>
                <a:spcPts val="2659"/>
              </a:lnSpc>
              <a:spcBef>
                <a:spcPct val="0"/>
              </a:spcBef>
            </a:pPr>
            <a:r>
              <a:rPr lang="en-US" sz="1899">
                <a:solidFill>
                  <a:srgbClr val="FBF3E7"/>
                </a:solidFill>
                <a:latin typeface="Canva Sans"/>
                <a:ea typeface="Canva Sans"/>
                <a:cs typeface="Canva Sans"/>
                <a:sym typeface="Canva Sans"/>
              </a:rPr>
              <a:t>df['Quantity'] = df['Quantity'].astype('Int64')</a:t>
            </a:r>
          </a:p>
        </p:txBody>
      </p:sp>
      <p:sp>
        <p:nvSpPr>
          <p:cNvPr name="TextBox 18" id="18"/>
          <p:cNvSpPr txBox="true"/>
          <p:nvPr/>
        </p:nvSpPr>
        <p:spPr>
          <a:xfrm rot="0">
            <a:off x="10360074" y="8011957"/>
            <a:ext cx="5543550" cy="989965"/>
          </a:xfrm>
          <a:prstGeom prst="rect">
            <a:avLst/>
          </a:prstGeom>
        </p:spPr>
        <p:txBody>
          <a:bodyPr anchor="t" rtlCol="false" tIns="0" lIns="0" bIns="0" rIns="0">
            <a:spAutoFit/>
          </a:bodyPr>
          <a:lstStyle/>
          <a:p>
            <a:pPr algn="just">
              <a:lnSpc>
                <a:spcPts val="2659"/>
              </a:lnSpc>
              <a:spcBef>
                <a:spcPct val="0"/>
              </a:spcBef>
            </a:pPr>
            <a:r>
              <a:rPr lang="en-US" sz="1899">
                <a:solidFill>
                  <a:srgbClr val="DA0C1A"/>
                </a:solidFill>
                <a:latin typeface="Canva Sans"/>
                <a:ea typeface="Canva Sans"/>
                <a:cs typeface="Canva Sans"/>
                <a:sym typeface="Canva Sans"/>
              </a:rPr>
              <a:t>Numerical columns were converted into numeric data types, to support further analysis and feature engineering.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1028700" y="1185698"/>
            <a:ext cx="13498500" cy="9323100"/>
            <a:chOff x="0" y="0"/>
            <a:chExt cx="3555160" cy="2455467"/>
          </a:xfrm>
        </p:grpSpPr>
        <p:sp>
          <p:nvSpPr>
            <p:cNvPr name="Freeform 3" id="3"/>
            <p:cNvSpPr/>
            <p:nvPr/>
          </p:nvSpPr>
          <p:spPr>
            <a:xfrm flipH="false" flipV="false" rot="0">
              <a:off x="0" y="0"/>
              <a:ext cx="3555161" cy="2455467"/>
            </a:xfrm>
            <a:custGeom>
              <a:avLst/>
              <a:gdLst/>
              <a:ahLst/>
              <a:cxnLst/>
              <a:rect r="r" b="b" t="t" l="l"/>
              <a:pathLst>
                <a:path h="2455467" w="3555161">
                  <a:moveTo>
                    <a:pt x="25809" y="0"/>
                  </a:moveTo>
                  <a:lnTo>
                    <a:pt x="3529351" y="0"/>
                  </a:lnTo>
                  <a:cubicBezTo>
                    <a:pt x="3536196" y="0"/>
                    <a:pt x="3542761" y="2719"/>
                    <a:pt x="3547601" y="7559"/>
                  </a:cubicBezTo>
                  <a:cubicBezTo>
                    <a:pt x="3552441" y="12400"/>
                    <a:pt x="3555161" y="18964"/>
                    <a:pt x="3555161" y="25809"/>
                  </a:cubicBezTo>
                  <a:lnTo>
                    <a:pt x="3555161" y="2429657"/>
                  </a:lnTo>
                  <a:cubicBezTo>
                    <a:pt x="3555161" y="2436502"/>
                    <a:pt x="3552441" y="2443067"/>
                    <a:pt x="3547601" y="2447907"/>
                  </a:cubicBezTo>
                  <a:cubicBezTo>
                    <a:pt x="3542761" y="2452747"/>
                    <a:pt x="3536196" y="2455467"/>
                    <a:pt x="3529351" y="2455467"/>
                  </a:cubicBezTo>
                  <a:lnTo>
                    <a:pt x="25809" y="2455467"/>
                  </a:lnTo>
                  <a:cubicBezTo>
                    <a:pt x="18964" y="2455467"/>
                    <a:pt x="12400" y="2452747"/>
                    <a:pt x="7559" y="2447907"/>
                  </a:cubicBezTo>
                  <a:cubicBezTo>
                    <a:pt x="2719" y="2443067"/>
                    <a:pt x="0" y="2436502"/>
                    <a:pt x="0" y="2429657"/>
                  </a:cubicBezTo>
                  <a:lnTo>
                    <a:pt x="0" y="25809"/>
                  </a:lnTo>
                  <a:cubicBezTo>
                    <a:pt x="0" y="18964"/>
                    <a:pt x="2719" y="12400"/>
                    <a:pt x="7559" y="7559"/>
                  </a:cubicBezTo>
                  <a:cubicBezTo>
                    <a:pt x="12400" y="2719"/>
                    <a:pt x="18964" y="0"/>
                    <a:pt x="25809" y="0"/>
                  </a:cubicBezTo>
                  <a:close/>
                </a:path>
              </a:pathLst>
            </a:custGeom>
            <a:solidFill>
              <a:srgbClr val="FF9999"/>
            </a:solidFill>
          </p:spPr>
        </p:sp>
        <p:sp>
          <p:nvSpPr>
            <p:cNvPr name="TextBox 4" id="4"/>
            <p:cNvSpPr txBox="true"/>
            <p:nvPr/>
          </p:nvSpPr>
          <p:spPr>
            <a:xfrm>
              <a:off x="0" y="-38100"/>
              <a:ext cx="3555160" cy="2493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825735" y="1903526"/>
            <a:ext cx="7028370" cy="7230870"/>
            <a:chOff x="0" y="0"/>
            <a:chExt cx="1088878" cy="1120251"/>
          </a:xfrm>
        </p:grpSpPr>
        <p:sp>
          <p:nvSpPr>
            <p:cNvPr name="Freeform 6" id="6"/>
            <p:cNvSpPr/>
            <p:nvPr/>
          </p:nvSpPr>
          <p:spPr>
            <a:xfrm flipH="false" flipV="false" rot="0">
              <a:off x="0" y="0"/>
              <a:ext cx="1088878" cy="1120251"/>
            </a:xfrm>
            <a:custGeom>
              <a:avLst/>
              <a:gdLst/>
              <a:ahLst/>
              <a:cxnLst/>
              <a:rect r="r" b="b" t="t" l="l"/>
              <a:pathLst>
                <a:path h="1120251" w="1088878">
                  <a:moveTo>
                    <a:pt x="80411" y="0"/>
                  </a:moveTo>
                  <a:lnTo>
                    <a:pt x="1008467" y="0"/>
                  </a:lnTo>
                  <a:cubicBezTo>
                    <a:pt x="1029794" y="0"/>
                    <a:pt x="1050246" y="8472"/>
                    <a:pt x="1065326" y="23552"/>
                  </a:cubicBezTo>
                  <a:cubicBezTo>
                    <a:pt x="1080407" y="38632"/>
                    <a:pt x="1088878" y="59085"/>
                    <a:pt x="1088878" y="80411"/>
                  </a:cubicBezTo>
                  <a:lnTo>
                    <a:pt x="1088878" y="1039840"/>
                  </a:lnTo>
                  <a:cubicBezTo>
                    <a:pt x="1088878" y="1084250"/>
                    <a:pt x="1052877" y="1120251"/>
                    <a:pt x="1008467" y="1120251"/>
                  </a:cubicBezTo>
                  <a:lnTo>
                    <a:pt x="80411" y="1120251"/>
                  </a:lnTo>
                  <a:cubicBezTo>
                    <a:pt x="36001" y="1120251"/>
                    <a:pt x="0" y="1084250"/>
                    <a:pt x="0" y="1039840"/>
                  </a:cubicBezTo>
                  <a:lnTo>
                    <a:pt x="0" y="80411"/>
                  </a:lnTo>
                  <a:cubicBezTo>
                    <a:pt x="0" y="36001"/>
                    <a:pt x="36001" y="0"/>
                    <a:pt x="80411" y="0"/>
                  </a:cubicBezTo>
                  <a:close/>
                </a:path>
              </a:pathLst>
            </a:custGeom>
            <a:blipFill>
              <a:blip r:embed="rId2"/>
              <a:stretch>
                <a:fillRect l="-53554" t="0" r="0" b="0"/>
              </a:stretch>
            </a:blipFill>
          </p:spPr>
        </p:sp>
      </p:grpSp>
      <p:grpSp>
        <p:nvGrpSpPr>
          <p:cNvPr name="Group 7" id="7"/>
          <p:cNvGrpSpPr/>
          <p:nvPr/>
        </p:nvGrpSpPr>
        <p:grpSpPr>
          <a:xfrm rot="0">
            <a:off x="7353300" y="9110345"/>
            <a:ext cx="3581400" cy="35814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0DDC0"/>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516085" y="1733790"/>
            <a:ext cx="4369588" cy="348996"/>
          </a:xfrm>
          <a:prstGeom prst="rect">
            <a:avLst/>
          </a:prstGeom>
        </p:spPr>
        <p:txBody>
          <a:bodyPr anchor="t" rtlCol="false" tIns="0" lIns="0" bIns="0" rIns="0">
            <a:spAutoFit/>
          </a:bodyPr>
          <a:lstStyle/>
          <a:p>
            <a:pPr algn="l" marL="518160" indent="-259080" lvl="1">
              <a:lnSpc>
                <a:spcPts val="2232"/>
              </a:lnSpc>
              <a:buAutoNum type="arabicPeriod" startAt="1"/>
            </a:pPr>
            <a:r>
              <a:rPr lang="en-US" sz="2400">
                <a:solidFill>
                  <a:srgbClr val="FBF3E7"/>
                </a:solidFill>
                <a:latin typeface="ITC Avant Garde Gothic"/>
                <a:ea typeface="ITC Avant Garde Gothic"/>
                <a:cs typeface="ITC Avant Garde Gothic"/>
                <a:sym typeface="ITC Avant Garde Gothic"/>
              </a:rPr>
              <a:t>Handling Missing Item</a:t>
            </a:r>
          </a:p>
        </p:txBody>
      </p:sp>
      <p:sp>
        <p:nvSpPr>
          <p:cNvPr name="TextBox 11" id="11"/>
          <p:cNvSpPr txBox="true"/>
          <p:nvPr/>
        </p:nvSpPr>
        <p:spPr>
          <a:xfrm rot="0">
            <a:off x="2087880" y="2152182"/>
            <a:ext cx="4233148" cy="3695065"/>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item_map =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2: 'Coffee',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1: 'Cookie',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5: 'Salad',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1.5: 'Tea'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item_mask = df['Item'] == 'Unknown'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df.loc[item_mask, 'Item']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df.loc[item_mask, 'Price Per Unit']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.map(item_map)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.fillna('Unknown')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p:txBody>
      </p:sp>
      <p:sp>
        <p:nvSpPr>
          <p:cNvPr name="TextBox 12" id="12"/>
          <p:cNvSpPr txBox="true"/>
          <p:nvPr/>
        </p:nvSpPr>
        <p:spPr>
          <a:xfrm rot="0">
            <a:off x="2085550" y="6072505"/>
            <a:ext cx="4235479" cy="1694815"/>
          </a:xfrm>
          <a:prstGeom prst="rect">
            <a:avLst/>
          </a:prstGeom>
        </p:spPr>
        <p:txBody>
          <a:bodyPr anchor="t" rtlCol="false" tIns="0" lIns="0" bIns="0" rIns="0">
            <a:spAutoFit/>
          </a:bodyPr>
          <a:lstStyle/>
          <a:p>
            <a:pPr algn="just">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Missing item values were recovered using the corresponding Price Per Unit. For example, a price of 2 was mapped to Coffee, while a price of 1.5 was mapped to Tea.</a:t>
            </a:r>
          </a:p>
        </p:txBody>
      </p:sp>
      <p:sp>
        <p:nvSpPr>
          <p:cNvPr name="TextBox 13" id="13"/>
          <p:cNvSpPr txBox="true"/>
          <p:nvPr/>
        </p:nvSpPr>
        <p:spPr>
          <a:xfrm rot="0">
            <a:off x="7054030" y="1733790"/>
            <a:ext cx="4369588" cy="348996"/>
          </a:xfrm>
          <a:prstGeom prst="rect">
            <a:avLst/>
          </a:prstGeom>
        </p:spPr>
        <p:txBody>
          <a:bodyPr anchor="t" rtlCol="false" tIns="0" lIns="0" bIns="0" rIns="0">
            <a:spAutoFit/>
          </a:bodyPr>
          <a:lstStyle/>
          <a:p>
            <a:pPr algn="l" marL="518160" indent="-259080" lvl="1">
              <a:lnSpc>
                <a:spcPts val="2232"/>
              </a:lnSpc>
              <a:buAutoNum type="arabicPeriod" startAt="1"/>
            </a:pPr>
            <a:r>
              <a:rPr lang="en-US" sz="2400">
                <a:solidFill>
                  <a:srgbClr val="FBF3E7"/>
                </a:solidFill>
                <a:latin typeface="ITC Avant Garde Gothic"/>
                <a:ea typeface="ITC Avant Garde Gothic"/>
                <a:cs typeface="ITC Avant Garde Gothic"/>
                <a:sym typeface="ITC Avant Garde Gothic"/>
              </a:rPr>
              <a:t>Handling Missing Price</a:t>
            </a:r>
          </a:p>
        </p:txBody>
      </p:sp>
      <p:sp>
        <p:nvSpPr>
          <p:cNvPr name="TextBox 14" id="14"/>
          <p:cNvSpPr txBox="true"/>
          <p:nvPr/>
        </p:nvSpPr>
        <p:spPr>
          <a:xfrm rot="0">
            <a:off x="7448125" y="2152182"/>
            <a:ext cx="4332922" cy="6028690"/>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price_map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'Coffee': 2,</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'Cake': 3,</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'Cookie': 1,</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'Salad': 5,</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'Smoothie': 4,</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'Sandwich': 4,</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'Juice': 3,</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'Tea': 1.5</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a:p>
            <a:pPr algn="l">
              <a:lnSpc>
                <a:spcPts val="2659"/>
              </a:lnSpc>
              <a:spcBef>
                <a:spcPct val="0"/>
              </a:spcBef>
            </a:pP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price_mask = df['Price Per Unit'].isna()</a:t>
            </a:r>
          </a:p>
          <a:p>
            <a:pPr algn="l">
              <a:lnSpc>
                <a:spcPts val="2659"/>
              </a:lnSpc>
              <a:spcBef>
                <a:spcPct val="0"/>
              </a:spcBef>
            </a:pP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df.loc[price_mask, 'Price Per Unit']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df.loc[price_mask, 'Item']</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.map(price_map)</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a:p>
            <a:pPr algn="l">
              <a:lnSpc>
                <a:spcPts val="2659"/>
              </a:lnSpc>
              <a:spcBef>
                <a:spcPct val="0"/>
              </a:spcBef>
            </a:pPr>
          </a:p>
        </p:txBody>
      </p:sp>
      <p:sp>
        <p:nvSpPr>
          <p:cNvPr name="TextBox 15" id="15"/>
          <p:cNvSpPr txBox="true"/>
          <p:nvPr/>
        </p:nvSpPr>
        <p:spPr>
          <a:xfrm rot="0">
            <a:off x="7448125" y="7958455"/>
            <a:ext cx="4819650" cy="1028065"/>
          </a:xfrm>
          <a:prstGeom prst="rect">
            <a:avLst/>
          </a:prstGeom>
        </p:spPr>
        <p:txBody>
          <a:bodyPr anchor="t" rtlCol="false" tIns="0" lIns="0" bIns="0" rIns="0">
            <a:spAutoFit/>
          </a:bodyPr>
          <a:lstStyle/>
          <a:p>
            <a:pPr algn="just">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Missing prices were reconstructed using a predefined price mapping based on the corresponding item.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7973315" y="2041200"/>
            <a:ext cx="10793485" cy="9323100"/>
            <a:chOff x="0" y="0"/>
            <a:chExt cx="2842729" cy="2455467"/>
          </a:xfrm>
        </p:grpSpPr>
        <p:sp>
          <p:nvSpPr>
            <p:cNvPr name="Freeform 3" id="3"/>
            <p:cNvSpPr/>
            <p:nvPr/>
          </p:nvSpPr>
          <p:spPr>
            <a:xfrm flipH="false" flipV="false" rot="0">
              <a:off x="0" y="0"/>
              <a:ext cx="2842729" cy="2455467"/>
            </a:xfrm>
            <a:custGeom>
              <a:avLst/>
              <a:gdLst/>
              <a:ahLst/>
              <a:cxnLst/>
              <a:rect r="r" b="b" t="t" l="l"/>
              <a:pathLst>
                <a:path h="2455467" w="2842729">
                  <a:moveTo>
                    <a:pt x="32277" y="0"/>
                  </a:moveTo>
                  <a:lnTo>
                    <a:pt x="2810451" y="0"/>
                  </a:lnTo>
                  <a:cubicBezTo>
                    <a:pt x="2819012" y="0"/>
                    <a:pt x="2827222" y="3401"/>
                    <a:pt x="2833275" y="9454"/>
                  </a:cubicBezTo>
                  <a:cubicBezTo>
                    <a:pt x="2839328" y="15507"/>
                    <a:pt x="2842729" y="23717"/>
                    <a:pt x="2842729" y="32277"/>
                  </a:cubicBezTo>
                  <a:lnTo>
                    <a:pt x="2842729" y="2423189"/>
                  </a:lnTo>
                  <a:cubicBezTo>
                    <a:pt x="2842729" y="2431750"/>
                    <a:pt x="2839328" y="2439960"/>
                    <a:pt x="2833275" y="2446013"/>
                  </a:cubicBezTo>
                  <a:cubicBezTo>
                    <a:pt x="2827222" y="2452066"/>
                    <a:pt x="2819012" y="2455467"/>
                    <a:pt x="2810451" y="2455467"/>
                  </a:cubicBezTo>
                  <a:lnTo>
                    <a:pt x="32277" y="2455467"/>
                  </a:lnTo>
                  <a:cubicBezTo>
                    <a:pt x="23717" y="2455467"/>
                    <a:pt x="15507" y="2452066"/>
                    <a:pt x="9454" y="2446013"/>
                  </a:cubicBezTo>
                  <a:cubicBezTo>
                    <a:pt x="3401" y="2439960"/>
                    <a:pt x="0" y="2431750"/>
                    <a:pt x="0" y="2423189"/>
                  </a:cubicBezTo>
                  <a:lnTo>
                    <a:pt x="0" y="32277"/>
                  </a:lnTo>
                  <a:cubicBezTo>
                    <a:pt x="0" y="23717"/>
                    <a:pt x="3401" y="15507"/>
                    <a:pt x="9454" y="9454"/>
                  </a:cubicBezTo>
                  <a:cubicBezTo>
                    <a:pt x="15507" y="3401"/>
                    <a:pt x="23717" y="0"/>
                    <a:pt x="32277" y="0"/>
                  </a:cubicBezTo>
                  <a:close/>
                </a:path>
              </a:pathLst>
            </a:custGeom>
            <a:solidFill>
              <a:srgbClr val="FF9999"/>
            </a:solidFill>
          </p:spPr>
        </p:sp>
        <p:sp>
          <p:nvSpPr>
            <p:cNvPr name="TextBox 4" id="4"/>
            <p:cNvSpPr txBox="true"/>
            <p:nvPr/>
          </p:nvSpPr>
          <p:spPr>
            <a:xfrm>
              <a:off x="0" y="-38100"/>
              <a:ext cx="2842729" cy="2493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73085" y="1704030"/>
            <a:ext cx="4263949" cy="4386801"/>
            <a:chOff x="0" y="0"/>
            <a:chExt cx="1088878" cy="1120251"/>
          </a:xfrm>
        </p:grpSpPr>
        <p:sp>
          <p:nvSpPr>
            <p:cNvPr name="Freeform 6" id="6"/>
            <p:cNvSpPr/>
            <p:nvPr/>
          </p:nvSpPr>
          <p:spPr>
            <a:xfrm flipH="false" flipV="false" rot="0">
              <a:off x="0" y="0"/>
              <a:ext cx="1088878" cy="1120251"/>
            </a:xfrm>
            <a:custGeom>
              <a:avLst/>
              <a:gdLst/>
              <a:ahLst/>
              <a:cxnLst/>
              <a:rect r="r" b="b" t="t" l="l"/>
              <a:pathLst>
                <a:path h="1120251" w="1088878">
                  <a:moveTo>
                    <a:pt x="70811" y="0"/>
                  </a:moveTo>
                  <a:lnTo>
                    <a:pt x="1018067" y="0"/>
                  </a:lnTo>
                  <a:cubicBezTo>
                    <a:pt x="1036848" y="0"/>
                    <a:pt x="1054859" y="7460"/>
                    <a:pt x="1068138" y="20740"/>
                  </a:cubicBezTo>
                  <a:cubicBezTo>
                    <a:pt x="1081418" y="34020"/>
                    <a:pt x="1088878" y="52031"/>
                    <a:pt x="1088878" y="70811"/>
                  </a:cubicBezTo>
                  <a:lnTo>
                    <a:pt x="1088878" y="1049440"/>
                  </a:lnTo>
                  <a:cubicBezTo>
                    <a:pt x="1088878" y="1088548"/>
                    <a:pt x="1057175" y="1120251"/>
                    <a:pt x="1018067" y="1120251"/>
                  </a:cubicBezTo>
                  <a:lnTo>
                    <a:pt x="70811" y="1120251"/>
                  </a:lnTo>
                  <a:cubicBezTo>
                    <a:pt x="31703" y="1120251"/>
                    <a:pt x="0" y="1088548"/>
                    <a:pt x="0" y="1049440"/>
                  </a:cubicBezTo>
                  <a:lnTo>
                    <a:pt x="0" y="70811"/>
                  </a:lnTo>
                  <a:cubicBezTo>
                    <a:pt x="0" y="31703"/>
                    <a:pt x="31703" y="0"/>
                    <a:pt x="70811" y="0"/>
                  </a:cubicBezTo>
                  <a:close/>
                </a:path>
              </a:pathLst>
            </a:custGeom>
            <a:blipFill>
              <a:blip r:embed="rId2"/>
              <a:stretch>
                <a:fillRect l="-21172" t="0" r="-33009" b="0"/>
              </a:stretch>
            </a:blipFill>
          </p:spPr>
        </p:sp>
      </p:grpSp>
      <p:grpSp>
        <p:nvGrpSpPr>
          <p:cNvPr name="Group 7" id="7"/>
          <p:cNvGrpSpPr/>
          <p:nvPr/>
        </p:nvGrpSpPr>
        <p:grpSpPr>
          <a:xfrm rot="0">
            <a:off x="3203115" y="5168886"/>
            <a:ext cx="4263949" cy="4386801"/>
            <a:chOff x="0" y="0"/>
            <a:chExt cx="1088878" cy="1120251"/>
          </a:xfrm>
        </p:grpSpPr>
        <p:sp>
          <p:nvSpPr>
            <p:cNvPr name="Freeform 8" id="8"/>
            <p:cNvSpPr/>
            <p:nvPr/>
          </p:nvSpPr>
          <p:spPr>
            <a:xfrm flipH="false" flipV="false" rot="0">
              <a:off x="0" y="0"/>
              <a:ext cx="1088878" cy="1120251"/>
            </a:xfrm>
            <a:custGeom>
              <a:avLst/>
              <a:gdLst/>
              <a:ahLst/>
              <a:cxnLst/>
              <a:rect r="r" b="b" t="t" l="l"/>
              <a:pathLst>
                <a:path h="1120251" w="1088878">
                  <a:moveTo>
                    <a:pt x="70811" y="0"/>
                  </a:moveTo>
                  <a:lnTo>
                    <a:pt x="1018067" y="0"/>
                  </a:lnTo>
                  <a:cubicBezTo>
                    <a:pt x="1036848" y="0"/>
                    <a:pt x="1054859" y="7460"/>
                    <a:pt x="1068138" y="20740"/>
                  </a:cubicBezTo>
                  <a:cubicBezTo>
                    <a:pt x="1081418" y="34020"/>
                    <a:pt x="1088878" y="52031"/>
                    <a:pt x="1088878" y="70811"/>
                  </a:cubicBezTo>
                  <a:lnTo>
                    <a:pt x="1088878" y="1049440"/>
                  </a:lnTo>
                  <a:cubicBezTo>
                    <a:pt x="1088878" y="1088548"/>
                    <a:pt x="1057175" y="1120251"/>
                    <a:pt x="1018067" y="1120251"/>
                  </a:cubicBezTo>
                  <a:lnTo>
                    <a:pt x="70811" y="1120251"/>
                  </a:lnTo>
                  <a:cubicBezTo>
                    <a:pt x="31703" y="1120251"/>
                    <a:pt x="0" y="1088548"/>
                    <a:pt x="0" y="1049440"/>
                  </a:cubicBezTo>
                  <a:lnTo>
                    <a:pt x="0" y="70811"/>
                  </a:lnTo>
                  <a:cubicBezTo>
                    <a:pt x="0" y="31703"/>
                    <a:pt x="31703" y="0"/>
                    <a:pt x="70811" y="0"/>
                  </a:cubicBezTo>
                  <a:close/>
                </a:path>
              </a:pathLst>
            </a:custGeom>
            <a:blipFill>
              <a:blip r:embed="rId3"/>
              <a:stretch>
                <a:fillRect l="-27354" t="0" r="-27354" b="0"/>
              </a:stretch>
            </a:blipFill>
          </p:spPr>
        </p:sp>
      </p:grpSp>
      <p:grpSp>
        <p:nvGrpSpPr>
          <p:cNvPr name="Group 9" id="9"/>
          <p:cNvGrpSpPr/>
          <p:nvPr/>
        </p:nvGrpSpPr>
        <p:grpSpPr>
          <a:xfrm rot="0">
            <a:off x="8673175" y="2401697"/>
            <a:ext cx="3172650" cy="653088"/>
            <a:chOff x="0" y="0"/>
            <a:chExt cx="835595" cy="172007"/>
          </a:xfrm>
        </p:grpSpPr>
        <p:sp>
          <p:nvSpPr>
            <p:cNvPr name="Freeform 10" id="10"/>
            <p:cNvSpPr/>
            <p:nvPr/>
          </p:nvSpPr>
          <p:spPr>
            <a:xfrm flipH="false" flipV="false" rot="0">
              <a:off x="0" y="0"/>
              <a:ext cx="835595" cy="172007"/>
            </a:xfrm>
            <a:custGeom>
              <a:avLst/>
              <a:gdLst/>
              <a:ahLst/>
              <a:cxnLst/>
              <a:rect r="r" b="b" t="t" l="l"/>
              <a:pathLst>
                <a:path h="172007" w="835595">
                  <a:moveTo>
                    <a:pt x="65886" y="0"/>
                  </a:moveTo>
                  <a:lnTo>
                    <a:pt x="769709" y="0"/>
                  </a:lnTo>
                  <a:cubicBezTo>
                    <a:pt x="806097" y="0"/>
                    <a:pt x="835595" y="29498"/>
                    <a:pt x="835595" y="65886"/>
                  </a:cubicBezTo>
                  <a:lnTo>
                    <a:pt x="835595" y="106121"/>
                  </a:lnTo>
                  <a:cubicBezTo>
                    <a:pt x="835595" y="142509"/>
                    <a:pt x="806097" y="172007"/>
                    <a:pt x="769709" y="172007"/>
                  </a:cubicBezTo>
                  <a:lnTo>
                    <a:pt x="65886" y="172007"/>
                  </a:lnTo>
                  <a:cubicBezTo>
                    <a:pt x="29498" y="172007"/>
                    <a:pt x="0" y="142509"/>
                    <a:pt x="0" y="106121"/>
                  </a:cubicBezTo>
                  <a:lnTo>
                    <a:pt x="0" y="65886"/>
                  </a:lnTo>
                  <a:cubicBezTo>
                    <a:pt x="0" y="29498"/>
                    <a:pt x="29498" y="0"/>
                    <a:pt x="65886" y="0"/>
                  </a:cubicBezTo>
                  <a:close/>
                </a:path>
              </a:pathLst>
            </a:custGeom>
            <a:solidFill>
              <a:srgbClr val="FBF3E7"/>
            </a:solidFill>
          </p:spPr>
        </p:sp>
        <p:sp>
          <p:nvSpPr>
            <p:cNvPr name="TextBox 11" id="11"/>
            <p:cNvSpPr txBox="true"/>
            <p:nvPr/>
          </p:nvSpPr>
          <p:spPr>
            <a:xfrm>
              <a:off x="0" y="-38100"/>
              <a:ext cx="835595" cy="21010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373085" y="8987361"/>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365428" y="671513"/>
            <a:ext cx="11462050" cy="733425"/>
          </a:xfrm>
          <a:prstGeom prst="rect">
            <a:avLst/>
          </a:prstGeom>
        </p:spPr>
        <p:txBody>
          <a:bodyPr anchor="t" rtlCol="false" tIns="0" lIns="0" bIns="0" rIns="0">
            <a:spAutoFit/>
          </a:bodyPr>
          <a:lstStyle/>
          <a:p>
            <a:pPr algn="l">
              <a:lnSpc>
                <a:spcPts val="4649"/>
              </a:lnSpc>
            </a:pPr>
            <a:r>
              <a:rPr lang="en-US" b="true" sz="4999">
                <a:solidFill>
                  <a:srgbClr val="DA0C1A"/>
                </a:solidFill>
                <a:latin typeface="ITC Avant Garde Gothic Bold"/>
                <a:ea typeface="ITC Avant Garde Gothic Bold"/>
                <a:cs typeface="ITC Avant Garde Gothic Bold"/>
                <a:sym typeface="ITC Avant Garde Gothic Bold"/>
              </a:rPr>
              <a:t>5. </a:t>
            </a:r>
            <a:r>
              <a:rPr lang="en-US" b="true" sz="4999">
                <a:solidFill>
                  <a:srgbClr val="DA0C1A"/>
                </a:solidFill>
                <a:latin typeface="ITC Avant Garde Gothic Bold"/>
                <a:ea typeface="ITC Avant Garde Gothic Bold"/>
                <a:cs typeface="ITC Avant Garde Gothic Bold"/>
                <a:sym typeface="ITC Avant Garde Gothic Bold"/>
              </a:rPr>
              <a:t>RECOVERING NUMERICAL</a:t>
            </a:r>
            <a:r>
              <a:rPr lang="en-US" b="true" sz="4999">
                <a:solidFill>
                  <a:srgbClr val="DA0C1A"/>
                </a:solidFill>
                <a:latin typeface="ITC Avant Garde Gothic Bold"/>
                <a:ea typeface="ITC Avant Garde Gothic Bold"/>
                <a:cs typeface="ITC Avant Garde Gothic Bold"/>
                <a:sym typeface="ITC Avant Garde Gothic Bold"/>
              </a:rPr>
              <a:t> VALUES</a:t>
            </a:r>
          </a:p>
        </p:txBody>
      </p:sp>
      <p:sp>
        <p:nvSpPr>
          <p:cNvPr name="TextBox 14" id="14"/>
          <p:cNvSpPr txBox="true"/>
          <p:nvPr/>
        </p:nvSpPr>
        <p:spPr>
          <a:xfrm rot="0">
            <a:off x="8926625" y="2590020"/>
            <a:ext cx="2665750" cy="331415"/>
          </a:xfrm>
          <a:prstGeom prst="rect">
            <a:avLst/>
          </a:prstGeom>
        </p:spPr>
        <p:txBody>
          <a:bodyPr anchor="t" rtlCol="false" tIns="0" lIns="0" bIns="0" rIns="0">
            <a:spAutoFit/>
          </a:bodyPr>
          <a:lstStyle/>
          <a:p>
            <a:pPr algn="ctr">
              <a:lnSpc>
                <a:spcPts val="2271"/>
              </a:lnSpc>
            </a:pPr>
            <a:r>
              <a:rPr lang="en-US" sz="2442">
                <a:solidFill>
                  <a:srgbClr val="DA0C1A"/>
                </a:solidFill>
                <a:latin typeface="Poppins"/>
                <a:ea typeface="Poppins"/>
                <a:cs typeface="Poppins"/>
                <a:sym typeface="Poppins"/>
              </a:rPr>
              <a:t>Quantity</a:t>
            </a:r>
          </a:p>
        </p:txBody>
      </p:sp>
      <p:grpSp>
        <p:nvGrpSpPr>
          <p:cNvPr name="Group 15" id="15"/>
          <p:cNvGrpSpPr/>
          <p:nvPr/>
        </p:nvGrpSpPr>
        <p:grpSpPr>
          <a:xfrm rot="0">
            <a:off x="8673175" y="5027100"/>
            <a:ext cx="3172650" cy="653088"/>
            <a:chOff x="0" y="0"/>
            <a:chExt cx="835595" cy="172007"/>
          </a:xfrm>
        </p:grpSpPr>
        <p:sp>
          <p:nvSpPr>
            <p:cNvPr name="Freeform 16" id="16"/>
            <p:cNvSpPr/>
            <p:nvPr/>
          </p:nvSpPr>
          <p:spPr>
            <a:xfrm flipH="false" flipV="false" rot="0">
              <a:off x="0" y="0"/>
              <a:ext cx="835595" cy="172007"/>
            </a:xfrm>
            <a:custGeom>
              <a:avLst/>
              <a:gdLst/>
              <a:ahLst/>
              <a:cxnLst/>
              <a:rect r="r" b="b" t="t" l="l"/>
              <a:pathLst>
                <a:path h="172007" w="835595">
                  <a:moveTo>
                    <a:pt x="65886" y="0"/>
                  </a:moveTo>
                  <a:lnTo>
                    <a:pt x="769709" y="0"/>
                  </a:lnTo>
                  <a:cubicBezTo>
                    <a:pt x="806097" y="0"/>
                    <a:pt x="835595" y="29498"/>
                    <a:pt x="835595" y="65886"/>
                  </a:cubicBezTo>
                  <a:lnTo>
                    <a:pt x="835595" y="106121"/>
                  </a:lnTo>
                  <a:cubicBezTo>
                    <a:pt x="835595" y="142509"/>
                    <a:pt x="806097" y="172007"/>
                    <a:pt x="769709" y="172007"/>
                  </a:cubicBezTo>
                  <a:lnTo>
                    <a:pt x="65886" y="172007"/>
                  </a:lnTo>
                  <a:cubicBezTo>
                    <a:pt x="29498" y="172007"/>
                    <a:pt x="0" y="142509"/>
                    <a:pt x="0" y="106121"/>
                  </a:cubicBezTo>
                  <a:lnTo>
                    <a:pt x="0" y="65886"/>
                  </a:lnTo>
                  <a:cubicBezTo>
                    <a:pt x="0" y="29498"/>
                    <a:pt x="29498" y="0"/>
                    <a:pt x="65886" y="0"/>
                  </a:cubicBezTo>
                  <a:close/>
                </a:path>
              </a:pathLst>
            </a:custGeom>
            <a:solidFill>
              <a:srgbClr val="FBF3E7"/>
            </a:solidFill>
          </p:spPr>
        </p:sp>
        <p:sp>
          <p:nvSpPr>
            <p:cNvPr name="TextBox 17" id="17"/>
            <p:cNvSpPr txBox="true"/>
            <p:nvPr/>
          </p:nvSpPr>
          <p:spPr>
            <a:xfrm>
              <a:off x="0" y="-38100"/>
              <a:ext cx="835595" cy="21010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673175" y="7565578"/>
            <a:ext cx="3172650" cy="653088"/>
            <a:chOff x="0" y="0"/>
            <a:chExt cx="835595" cy="172007"/>
          </a:xfrm>
        </p:grpSpPr>
        <p:sp>
          <p:nvSpPr>
            <p:cNvPr name="Freeform 19" id="19"/>
            <p:cNvSpPr/>
            <p:nvPr/>
          </p:nvSpPr>
          <p:spPr>
            <a:xfrm flipH="false" flipV="false" rot="0">
              <a:off x="0" y="0"/>
              <a:ext cx="835595" cy="172007"/>
            </a:xfrm>
            <a:custGeom>
              <a:avLst/>
              <a:gdLst/>
              <a:ahLst/>
              <a:cxnLst/>
              <a:rect r="r" b="b" t="t" l="l"/>
              <a:pathLst>
                <a:path h="172007" w="835595">
                  <a:moveTo>
                    <a:pt x="65886" y="0"/>
                  </a:moveTo>
                  <a:lnTo>
                    <a:pt x="769709" y="0"/>
                  </a:lnTo>
                  <a:cubicBezTo>
                    <a:pt x="806097" y="0"/>
                    <a:pt x="835595" y="29498"/>
                    <a:pt x="835595" y="65886"/>
                  </a:cubicBezTo>
                  <a:lnTo>
                    <a:pt x="835595" y="106121"/>
                  </a:lnTo>
                  <a:cubicBezTo>
                    <a:pt x="835595" y="142509"/>
                    <a:pt x="806097" y="172007"/>
                    <a:pt x="769709" y="172007"/>
                  </a:cubicBezTo>
                  <a:lnTo>
                    <a:pt x="65886" y="172007"/>
                  </a:lnTo>
                  <a:cubicBezTo>
                    <a:pt x="29498" y="172007"/>
                    <a:pt x="0" y="142509"/>
                    <a:pt x="0" y="106121"/>
                  </a:cubicBezTo>
                  <a:lnTo>
                    <a:pt x="0" y="65886"/>
                  </a:lnTo>
                  <a:cubicBezTo>
                    <a:pt x="0" y="29498"/>
                    <a:pt x="29498" y="0"/>
                    <a:pt x="65886" y="0"/>
                  </a:cubicBezTo>
                  <a:close/>
                </a:path>
              </a:pathLst>
            </a:custGeom>
            <a:solidFill>
              <a:srgbClr val="FBF3E7"/>
            </a:solidFill>
          </p:spPr>
        </p:sp>
        <p:sp>
          <p:nvSpPr>
            <p:cNvPr name="TextBox 20" id="20"/>
            <p:cNvSpPr txBox="true"/>
            <p:nvPr/>
          </p:nvSpPr>
          <p:spPr>
            <a:xfrm>
              <a:off x="0" y="-38100"/>
              <a:ext cx="835595" cy="210107"/>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8673175" y="3178610"/>
            <a:ext cx="4791900" cy="1361440"/>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df.loc[quantity_mask, 'Quantity']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df.loc[quantity_mask, 'Total Spent']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df.loc[quantity_mask, 'Price Per Unit']</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p:txBody>
      </p:sp>
      <p:sp>
        <p:nvSpPr>
          <p:cNvPr name="TextBox 22" id="22"/>
          <p:cNvSpPr txBox="true"/>
          <p:nvPr/>
        </p:nvSpPr>
        <p:spPr>
          <a:xfrm rot="0">
            <a:off x="8673175" y="5804013"/>
            <a:ext cx="4791900" cy="1361440"/>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df.loc[spent_mask, 'Total Spent']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df.loc[spent_mask, 'Quantity']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df.loc[spent_mask, 'Price Per Unit']</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p:txBody>
      </p:sp>
      <p:sp>
        <p:nvSpPr>
          <p:cNvPr name="TextBox 23" id="23"/>
          <p:cNvSpPr txBox="true"/>
          <p:nvPr/>
        </p:nvSpPr>
        <p:spPr>
          <a:xfrm rot="0">
            <a:off x="8673175" y="8342491"/>
            <a:ext cx="4918664" cy="1361440"/>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df.loc[price_mask_2, 'Price Per Unit'] =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df.loc[price_mask_2, 'Total Spent']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df.loc[price_mask_2, 'Quantity']</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p:txBody>
      </p:sp>
      <p:sp>
        <p:nvSpPr>
          <p:cNvPr name="TextBox 24" id="24"/>
          <p:cNvSpPr txBox="true"/>
          <p:nvPr/>
        </p:nvSpPr>
        <p:spPr>
          <a:xfrm rot="0">
            <a:off x="8926625" y="5181600"/>
            <a:ext cx="2665750" cy="331415"/>
          </a:xfrm>
          <a:prstGeom prst="rect">
            <a:avLst/>
          </a:prstGeom>
        </p:spPr>
        <p:txBody>
          <a:bodyPr anchor="t" rtlCol="false" tIns="0" lIns="0" bIns="0" rIns="0">
            <a:spAutoFit/>
          </a:bodyPr>
          <a:lstStyle/>
          <a:p>
            <a:pPr algn="ctr">
              <a:lnSpc>
                <a:spcPts val="2271"/>
              </a:lnSpc>
            </a:pPr>
            <a:r>
              <a:rPr lang="en-US" sz="2442">
                <a:solidFill>
                  <a:srgbClr val="DA0C1A"/>
                </a:solidFill>
                <a:latin typeface="Poppins"/>
                <a:ea typeface="Poppins"/>
                <a:cs typeface="Poppins"/>
                <a:sym typeface="Poppins"/>
              </a:rPr>
              <a:t>Total Spent</a:t>
            </a:r>
          </a:p>
        </p:txBody>
      </p:sp>
      <p:sp>
        <p:nvSpPr>
          <p:cNvPr name="TextBox 25" id="25"/>
          <p:cNvSpPr txBox="true"/>
          <p:nvPr/>
        </p:nvSpPr>
        <p:spPr>
          <a:xfrm rot="0">
            <a:off x="8926625" y="7803628"/>
            <a:ext cx="2665750" cy="331415"/>
          </a:xfrm>
          <a:prstGeom prst="rect">
            <a:avLst/>
          </a:prstGeom>
        </p:spPr>
        <p:txBody>
          <a:bodyPr anchor="t" rtlCol="false" tIns="0" lIns="0" bIns="0" rIns="0">
            <a:spAutoFit/>
          </a:bodyPr>
          <a:lstStyle/>
          <a:p>
            <a:pPr algn="ctr">
              <a:lnSpc>
                <a:spcPts val="2271"/>
              </a:lnSpc>
            </a:pPr>
            <a:r>
              <a:rPr lang="en-US" sz="2442">
                <a:solidFill>
                  <a:srgbClr val="DA0C1A"/>
                </a:solidFill>
                <a:latin typeface="Poppins"/>
                <a:ea typeface="Poppins"/>
                <a:cs typeface="Poppins"/>
                <a:sym typeface="Poppins"/>
              </a:rPr>
              <a:t>Price Per Unit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10660370" y="1521735"/>
            <a:ext cx="7004248" cy="7004255"/>
            <a:chOff x="0" y="0"/>
            <a:chExt cx="1419732" cy="1419733"/>
          </a:xfrm>
        </p:grpSpPr>
        <p:sp>
          <p:nvSpPr>
            <p:cNvPr name="Freeform 3" id="3"/>
            <p:cNvSpPr/>
            <p:nvPr/>
          </p:nvSpPr>
          <p:spPr>
            <a:xfrm flipH="false" flipV="false" rot="0">
              <a:off x="0" y="0"/>
              <a:ext cx="1419733" cy="1419746"/>
            </a:xfrm>
            <a:custGeom>
              <a:avLst/>
              <a:gdLst/>
              <a:ahLst/>
              <a:cxnLst/>
              <a:rect r="r" b="b" t="t" l="l"/>
              <a:pathLst>
                <a:path h="1419746" w="1419733">
                  <a:moveTo>
                    <a:pt x="932290" y="0"/>
                  </a:moveTo>
                  <a:lnTo>
                    <a:pt x="177673" y="0"/>
                  </a:lnTo>
                  <a:cubicBezTo>
                    <a:pt x="79547" y="0"/>
                    <a:pt x="0" y="79547"/>
                    <a:pt x="0" y="177673"/>
                  </a:cubicBezTo>
                  <a:lnTo>
                    <a:pt x="0" y="1242073"/>
                  </a:lnTo>
                  <a:cubicBezTo>
                    <a:pt x="0" y="1340199"/>
                    <a:pt x="79547" y="1419746"/>
                    <a:pt x="177673" y="1419746"/>
                  </a:cubicBezTo>
                  <a:lnTo>
                    <a:pt x="1242060" y="1419746"/>
                  </a:lnTo>
                  <a:cubicBezTo>
                    <a:pt x="1340186" y="1419746"/>
                    <a:pt x="1419733" y="1340199"/>
                    <a:pt x="1419733" y="1242073"/>
                  </a:cubicBezTo>
                  <a:lnTo>
                    <a:pt x="1419733" y="523958"/>
                  </a:lnTo>
                  <a:cubicBezTo>
                    <a:pt x="1419733" y="480251"/>
                    <a:pt x="1403623" y="438079"/>
                    <a:pt x="1374484" y="405503"/>
                  </a:cubicBezTo>
                  <a:lnTo>
                    <a:pt x="1064707" y="59214"/>
                  </a:lnTo>
                  <a:cubicBezTo>
                    <a:pt x="1031003" y="21536"/>
                    <a:pt x="982844" y="0"/>
                    <a:pt x="932290" y="0"/>
                  </a:cubicBezTo>
                  <a:close/>
                </a:path>
              </a:pathLst>
            </a:custGeom>
            <a:blipFill>
              <a:blip r:embed="rId2"/>
              <a:stretch>
                <a:fillRect l="-24932" t="0" r="-24932" b="0"/>
              </a:stretch>
            </a:blipFill>
          </p:spPr>
        </p:sp>
      </p:grpSp>
      <p:grpSp>
        <p:nvGrpSpPr>
          <p:cNvPr name="Group 4" id="4"/>
          <p:cNvGrpSpPr/>
          <p:nvPr/>
        </p:nvGrpSpPr>
        <p:grpSpPr>
          <a:xfrm rot="0">
            <a:off x="7848995" y="3686883"/>
            <a:ext cx="4225541" cy="422554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999"/>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8203287" y="4041175"/>
            <a:ext cx="3516959" cy="351695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4931" t="0" r="-24931" b="0"/>
              </a:stretch>
            </a:blipFill>
          </p:spPr>
        </p:sp>
      </p:grpSp>
      <p:sp>
        <p:nvSpPr>
          <p:cNvPr name="TextBox 9" id="9"/>
          <p:cNvSpPr txBox="true"/>
          <p:nvPr/>
        </p:nvSpPr>
        <p:spPr>
          <a:xfrm rot="0">
            <a:off x="185317" y="751685"/>
            <a:ext cx="10970720" cy="1021080"/>
          </a:xfrm>
          <a:prstGeom prst="rect">
            <a:avLst/>
          </a:prstGeom>
        </p:spPr>
        <p:txBody>
          <a:bodyPr anchor="t" rtlCol="false" tIns="0" lIns="0" bIns="0" rIns="0">
            <a:spAutoFit/>
          </a:bodyPr>
          <a:lstStyle/>
          <a:p>
            <a:pPr algn="l" marL="1511299" indent="-755650" lvl="1">
              <a:lnSpc>
                <a:spcPts val="6509"/>
              </a:lnSpc>
              <a:buAutoNum type="arabicPeriod" startAt="1"/>
            </a:pPr>
            <a:r>
              <a:rPr lang="en-US" b="true" sz="6999">
                <a:solidFill>
                  <a:srgbClr val="DA0C1A"/>
                </a:solidFill>
                <a:latin typeface="ITC Avant Garde Gothic Bold"/>
                <a:ea typeface="ITC Avant Garde Gothic Bold"/>
                <a:cs typeface="ITC Avant Garde Gothic Bold"/>
                <a:sym typeface="ITC Avant Garde Gothic Bold"/>
              </a:rPr>
              <a:t>DATA VALIDATION</a:t>
            </a:r>
          </a:p>
        </p:txBody>
      </p:sp>
      <p:sp>
        <p:nvSpPr>
          <p:cNvPr name="Freeform 10" id="10"/>
          <p:cNvSpPr/>
          <p:nvPr/>
        </p:nvSpPr>
        <p:spPr>
          <a:xfrm flipH="false" flipV="false" rot="0">
            <a:off x="185317" y="8887176"/>
            <a:ext cx="1224203" cy="1224203"/>
          </a:xfrm>
          <a:custGeom>
            <a:avLst/>
            <a:gdLst/>
            <a:ahLst/>
            <a:cxnLst/>
            <a:rect r="r" b="b" t="t" l="l"/>
            <a:pathLst>
              <a:path h="1224203" w="1224203">
                <a:moveTo>
                  <a:pt x="0" y="0"/>
                </a:moveTo>
                <a:lnTo>
                  <a:pt x="1224202" y="0"/>
                </a:lnTo>
                <a:lnTo>
                  <a:pt x="1224202" y="1224203"/>
                </a:lnTo>
                <a:lnTo>
                  <a:pt x="0" y="1224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259300" y="9258300"/>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6121399" y="-1341910"/>
            <a:ext cx="3581400" cy="3581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F9999"/>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790700" y="1868015"/>
            <a:ext cx="5845073" cy="6778184"/>
          </a:xfrm>
          <a:prstGeom prst="rect">
            <a:avLst/>
          </a:prstGeom>
        </p:spPr>
        <p:txBody>
          <a:bodyPr anchor="t" rtlCol="false" tIns="0" lIns="0" bIns="0" rIns="0">
            <a:spAutoFit/>
          </a:bodyPr>
          <a:lstStyle/>
          <a:p>
            <a:pPr algn="l">
              <a:lnSpc>
                <a:spcPts val="1933"/>
              </a:lnSpc>
              <a:spcBef>
                <a:spcPct val="0"/>
              </a:spcBef>
            </a:pPr>
            <a:r>
              <a:rPr lang="en-US" sz="1380">
                <a:solidFill>
                  <a:srgbClr val="DA0C1A"/>
                </a:solidFill>
                <a:latin typeface="Canva Sans"/>
                <a:ea typeface="Canva Sans"/>
                <a:cs typeface="Canva Sans"/>
                <a:sym typeface="Canva Sans"/>
              </a:rPr>
              <a:t>SELECT</a:t>
            </a:r>
          </a:p>
          <a:p>
            <a:pPr algn="l">
              <a:lnSpc>
                <a:spcPts val="1933"/>
              </a:lnSpc>
              <a:spcBef>
                <a:spcPct val="0"/>
              </a:spcBef>
            </a:pPr>
            <a:r>
              <a:rPr lang="en-US" sz="1380">
                <a:solidFill>
                  <a:srgbClr val="DA0C1A"/>
                </a:solidFill>
                <a:latin typeface="Canva Sans"/>
                <a:ea typeface="Canva Sans"/>
                <a:cs typeface="Canva Sans"/>
                <a:sym typeface="Canva Sans"/>
              </a:rPr>
              <a:t>        *,</a:t>
            </a:r>
          </a:p>
          <a:p>
            <a:pPr algn="l">
              <a:lnSpc>
                <a:spcPts val="1933"/>
              </a:lnSpc>
              <a:spcBef>
                <a:spcPct val="0"/>
              </a:spcBef>
            </a:pPr>
          </a:p>
          <a:p>
            <a:pPr algn="l">
              <a:lnSpc>
                <a:spcPts val="1933"/>
              </a:lnSpc>
              <a:spcBef>
                <a:spcPct val="0"/>
              </a:spcBef>
            </a:pPr>
            <a:r>
              <a:rPr lang="en-US" sz="1380">
                <a:solidFill>
                  <a:srgbClr val="DA0C1A"/>
                </a:solidFill>
                <a:latin typeface="Canva Sans"/>
                <a:ea typeface="Canva Sans"/>
                <a:cs typeface="Canva Sans"/>
                <a:sym typeface="Canva Sans"/>
              </a:rPr>
              <a:t>        CASE</a:t>
            </a:r>
          </a:p>
          <a:p>
            <a:pPr algn="l">
              <a:lnSpc>
                <a:spcPts val="1933"/>
              </a:lnSpc>
              <a:spcBef>
                <a:spcPct val="0"/>
              </a:spcBef>
            </a:pPr>
            <a:r>
              <a:rPr lang="en-US" sz="1380">
                <a:solidFill>
                  <a:srgbClr val="DA0C1A"/>
                </a:solidFill>
                <a:latin typeface="Canva Sans"/>
                <a:ea typeface="Canva Sans"/>
                <a:cs typeface="Canva Sans"/>
                <a:sym typeface="Canva Sans"/>
              </a:rPr>
              <a:t>            WHEN ROUND(quantity * price_per_unit,2)</a:t>
            </a:r>
          </a:p>
          <a:p>
            <a:pPr algn="l">
              <a:lnSpc>
                <a:spcPts val="1933"/>
              </a:lnSpc>
              <a:spcBef>
                <a:spcPct val="0"/>
              </a:spcBef>
            </a:pPr>
            <a:r>
              <a:rPr lang="en-US" sz="1380">
                <a:solidFill>
                  <a:srgbClr val="DA0C1A"/>
                </a:solidFill>
                <a:latin typeface="Canva Sans"/>
                <a:ea typeface="Canva Sans"/>
                <a:cs typeface="Canva Sans"/>
                <a:sym typeface="Canva Sans"/>
              </a:rPr>
              <a:t>                 =</a:t>
            </a:r>
          </a:p>
          <a:p>
            <a:pPr algn="l">
              <a:lnSpc>
                <a:spcPts val="1933"/>
              </a:lnSpc>
              <a:spcBef>
                <a:spcPct val="0"/>
              </a:spcBef>
            </a:pPr>
            <a:r>
              <a:rPr lang="en-US" sz="1380">
                <a:solidFill>
                  <a:srgbClr val="DA0C1A"/>
                </a:solidFill>
                <a:latin typeface="Canva Sans"/>
                <a:ea typeface="Canva Sans"/>
                <a:cs typeface="Canva Sans"/>
                <a:sym typeface="Canva Sans"/>
              </a:rPr>
              <a:t>                 ROUND(total_spent,2)</a:t>
            </a:r>
          </a:p>
          <a:p>
            <a:pPr algn="l">
              <a:lnSpc>
                <a:spcPts val="1933"/>
              </a:lnSpc>
              <a:spcBef>
                <a:spcPct val="0"/>
              </a:spcBef>
            </a:pPr>
            <a:r>
              <a:rPr lang="en-US" sz="1380">
                <a:solidFill>
                  <a:srgbClr val="DA0C1A"/>
                </a:solidFill>
                <a:latin typeface="Canva Sans"/>
                <a:ea typeface="Canva Sans"/>
                <a:cs typeface="Canva Sans"/>
                <a:sym typeface="Canva Sans"/>
              </a:rPr>
              <a:t>            THEN 'VALID'</a:t>
            </a:r>
          </a:p>
          <a:p>
            <a:pPr algn="l">
              <a:lnSpc>
                <a:spcPts val="1933"/>
              </a:lnSpc>
              <a:spcBef>
                <a:spcPct val="0"/>
              </a:spcBef>
            </a:pPr>
            <a:r>
              <a:rPr lang="en-US" sz="1380">
                <a:solidFill>
                  <a:srgbClr val="DA0C1A"/>
                </a:solidFill>
                <a:latin typeface="Canva Sans"/>
                <a:ea typeface="Canva Sans"/>
                <a:cs typeface="Canva Sans"/>
                <a:sym typeface="Canva Sans"/>
              </a:rPr>
              <a:t>            ELSE 'INVALID'</a:t>
            </a:r>
          </a:p>
          <a:p>
            <a:pPr algn="l">
              <a:lnSpc>
                <a:spcPts val="1933"/>
              </a:lnSpc>
              <a:spcBef>
                <a:spcPct val="0"/>
              </a:spcBef>
            </a:pPr>
            <a:r>
              <a:rPr lang="en-US" sz="1380">
                <a:solidFill>
                  <a:srgbClr val="DA0C1A"/>
                </a:solidFill>
                <a:latin typeface="Canva Sans"/>
                <a:ea typeface="Canva Sans"/>
                <a:cs typeface="Canva Sans"/>
                <a:sym typeface="Canva Sans"/>
              </a:rPr>
              <a:t>        END AS data_quality_total_spent,</a:t>
            </a:r>
          </a:p>
          <a:p>
            <a:pPr algn="l">
              <a:lnSpc>
                <a:spcPts val="1933"/>
              </a:lnSpc>
              <a:spcBef>
                <a:spcPct val="0"/>
              </a:spcBef>
            </a:pPr>
            <a:r>
              <a:rPr lang="en-US" sz="1380">
                <a:solidFill>
                  <a:srgbClr val="DA0C1A"/>
                </a:solidFill>
                <a:latin typeface="Canva Sans"/>
                <a:ea typeface="Canva Sans"/>
                <a:cs typeface="Canva Sans"/>
                <a:sym typeface="Canva Sans"/>
              </a:rPr>
              <a:t>        </a:t>
            </a:r>
          </a:p>
          <a:p>
            <a:pPr algn="l">
              <a:lnSpc>
                <a:spcPts val="1933"/>
              </a:lnSpc>
              <a:spcBef>
                <a:spcPct val="0"/>
              </a:spcBef>
            </a:pPr>
            <a:r>
              <a:rPr lang="en-US" sz="1380">
                <a:solidFill>
                  <a:srgbClr val="DA0C1A"/>
                </a:solidFill>
                <a:latin typeface="Canva Sans"/>
                <a:ea typeface="Canva Sans"/>
                <a:cs typeface="Canva Sans"/>
                <a:sym typeface="Canva Sans"/>
              </a:rPr>
              <a:t>        CASE</a:t>
            </a:r>
          </a:p>
          <a:p>
            <a:pPr algn="l">
              <a:lnSpc>
                <a:spcPts val="1933"/>
              </a:lnSpc>
              <a:spcBef>
                <a:spcPct val="0"/>
              </a:spcBef>
            </a:pPr>
            <a:r>
              <a:rPr lang="en-US" sz="1380">
                <a:solidFill>
                  <a:srgbClr val="DA0C1A"/>
                </a:solidFill>
                <a:latin typeface="Canva Sans"/>
                <a:ea typeface="Canva Sans"/>
                <a:cs typeface="Canva Sans"/>
                <a:sym typeface="Canva Sans"/>
              </a:rPr>
              <a:t>            WHEN ROUND(total_spent / price_per_unit,2)</a:t>
            </a:r>
          </a:p>
          <a:p>
            <a:pPr algn="l">
              <a:lnSpc>
                <a:spcPts val="1933"/>
              </a:lnSpc>
              <a:spcBef>
                <a:spcPct val="0"/>
              </a:spcBef>
            </a:pPr>
            <a:r>
              <a:rPr lang="en-US" sz="1380">
                <a:solidFill>
                  <a:srgbClr val="DA0C1A"/>
                </a:solidFill>
                <a:latin typeface="Canva Sans"/>
                <a:ea typeface="Canva Sans"/>
                <a:cs typeface="Canva Sans"/>
                <a:sym typeface="Canva Sans"/>
              </a:rPr>
              <a:t>                 =</a:t>
            </a:r>
          </a:p>
          <a:p>
            <a:pPr algn="l">
              <a:lnSpc>
                <a:spcPts val="1933"/>
              </a:lnSpc>
              <a:spcBef>
                <a:spcPct val="0"/>
              </a:spcBef>
            </a:pPr>
            <a:r>
              <a:rPr lang="en-US" sz="1380">
                <a:solidFill>
                  <a:srgbClr val="DA0C1A"/>
                </a:solidFill>
                <a:latin typeface="Canva Sans"/>
                <a:ea typeface="Canva Sans"/>
                <a:cs typeface="Canva Sans"/>
                <a:sym typeface="Canva Sans"/>
              </a:rPr>
              <a:t>                 ROUND(quantity,2)</a:t>
            </a:r>
          </a:p>
          <a:p>
            <a:pPr algn="l">
              <a:lnSpc>
                <a:spcPts val="1933"/>
              </a:lnSpc>
              <a:spcBef>
                <a:spcPct val="0"/>
              </a:spcBef>
            </a:pPr>
            <a:r>
              <a:rPr lang="en-US" sz="1380">
                <a:solidFill>
                  <a:srgbClr val="DA0C1A"/>
                </a:solidFill>
                <a:latin typeface="Canva Sans"/>
                <a:ea typeface="Canva Sans"/>
                <a:cs typeface="Canva Sans"/>
                <a:sym typeface="Canva Sans"/>
              </a:rPr>
              <a:t>            THEN 'VALID'</a:t>
            </a:r>
          </a:p>
          <a:p>
            <a:pPr algn="l">
              <a:lnSpc>
                <a:spcPts val="1933"/>
              </a:lnSpc>
              <a:spcBef>
                <a:spcPct val="0"/>
              </a:spcBef>
            </a:pPr>
            <a:r>
              <a:rPr lang="en-US" sz="1380">
                <a:solidFill>
                  <a:srgbClr val="DA0C1A"/>
                </a:solidFill>
                <a:latin typeface="Canva Sans"/>
                <a:ea typeface="Canva Sans"/>
                <a:cs typeface="Canva Sans"/>
                <a:sym typeface="Canva Sans"/>
              </a:rPr>
              <a:t>            ELSE 'INVALID'</a:t>
            </a:r>
          </a:p>
          <a:p>
            <a:pPr algn="l">
              <a:lnSpc>
                <a:spcPts val="1933"/>
              </a:lnSpc>
              <a:spcBef>
                <a:spcPct val="0"/>
              </a:spcBef>
            </a:pPr>
            <a:r>
              <a:rPr lang="en-US" sz="1380">
                <a:solidFill>
                  <a:srgbClr val="DA0C1A"/>
                </a:solidFill>
                <a:latin typeface="Canva Sans"/>
                <a:ea typeface="Canva Sans"/>
                <a:cs typeface="Canva Sans"/>
                <a:sym typeface="Canva Sans"/>
              </a:rPr>
              <a:t>        END AS data_quality_quantity,</a:t>
            </a:r>
          </a:p>
          <a:p>
            <a:pPr algn="l">
              <a:lnSpc>
                <a:spcPts val="1933"/>
              </a:lnSpc>
              <a:spcBef>
                <a:spcPct val="0"/>
              </a:spcBef>
            </a:pPr>
            <a:r>
              <a:rPr lang="en-US" sz="1380">
                <a:solidFill>
                  <a:srgbClr val="DA0C1A"/>
                </a:solidFill>
                <a:latin typeface="Canva Sans"/>
                <a:ea typeface="Canva Sans"/>
                <a:cs typeface="Canva Sans"/>
                <a:sym typeface="Canva Sans"/>
              </a:rPr>
              <a:t>        </a:t>
            </a:r>
          </a:p>
          <a:p>
            <a:pPr algn="l">
              <a:lnSpc>
                <a:spcPts val="1933"/>
              </a:lnSpc>
              <a:spcBef>
                <a:spcPct val="0"/>
              </a:spcBef>
            </a:pPr>
            <a:r>
              <a:rPr lang="en-US" sz="1380">
                <a:solidFill>
                  <a:srgbClr val="DA0C1A"/>
                </a:solidFill>
                <a:latin typeface="Canva Sans"/>
                <a:ea typeface="Canva Sans"/>
                <a:cs typeface="Canva Sans"/>
                <a:sym typeface="Canva Sans"/>
              </a:rPr>
              <a:t>  CASE</a:t>
            </a:r>
          </a:p>
          <a:p>
            <a:pPr algn="l">
              <a:lnSpc>
                <a:spcPts val="1933"/>
              </a:lnSpc>
              <a:spcBef>
                <a:spcPct val="0"/>
              </a:spcBef>
            </a:pPr>
            <a:r>
              <a:rPr lang="en-US" sz="1380">
                <a:solidFill>
                  <a:srgbClr val="DA0C1A"/>
                </a:solidFill>
                <a:latin typeface="Canva Sans"/>
                <a:ea typeface="Canva Sans"/>
                <a:cs typeface="Canva Sans"/>
                <a:sym typeface="Canva Sans"/>
              </a:rPr>
              <a:t>            WHEN ROUND(total_spent / quantity,2)</a:t>
            </a:r>
          </a:p>
          <a:p>
            <a:pPr algn="l">
              <a:lnSpc>
                <a:spcPts val="1933"/>
              </a:lnSpc>
              <a:spcBef>
                <a:spcPct val="0"/>
              </a:spcBef>
            </a:pPr>
            <a:r>
              <a:rPr lang="en-US" sz="1380">
                <a:solidFill>
                  <a:srgbClr val="DA0C1A"/>
                </a:solidFill>
                <a:latin typeface="Canva Sans"/>
                <a:ea typeface="Canva Sans"/>
                <a:cs typeface="Canva Sans"/>
                <a:sym typeface="Canva Sans"/>
              </a:rPr>
              <a:t>                 =</a:t>
            </a:r>
          </a:p>
          <a:p>
            <a:pPr algn="l">
              <a:lnSpc>
                <a:spcPts val="1933"/>
              </a:lnSpc>
              <a:spcBef>
                <a:spcPct val="0"/>
              </a:spcBef>
            </a:pPr>
            <a:r>
              <a:rPr lang="en-US" sz="1380">
                <a:solidFill>
                  <a:srgbClr val="DA0C1A"/>
                </a:solidFill>
                <a:latin typeface="Canva Sans"/>
                <a:ea typeface="Canva Sans"/>
                <a:cs typeface="Canva Sans"/>
                <a:sym typeface="Canva Sans"/>
              </a:rPr>
              <a:t>                 ROUND(price_per_unit,2)</a:t>
            </a:r>
          </a:p>
          <a:p>
            <a:pPr algn="l">
              <a:lnSpc>
                <a:spcPts val="1933"/>
              </a:lnSpc>
              <a:spcBef>
                <a:spcPct val="0"/>
              </a:spcBef>
            </a:pPr>
            <a:r>
              <a:rPr lang="en-US" sz="1380">
                <a:solidFill>
                  <a:srgbClr val="DA0C1A"/>
                </a:solidFill>
                <a:latin typeface="Canva Sans"/>
                <a:ea typeface="Canva Sans"/>
                <a:cs typeface="Canva Sans"/>
                <a:sym typeface="Canva Sans"/>
              </a:rPr>
              <a:t>            THEN 'VALID'</a:t>
            </a:r>
          </a:p>
          <a:p>
            <a:pPr algn="l">
              <a:lnSpc>
                <a:spcPts val="1933"/>
              </a:lnSpc>
              <a:spcBef>
                <a:spcPct val="0"/>
              </a:spcBef>
            </a:pPr>
            <a:r>
              <a:rPr lang="en-US" sz="1380">
                <a:solidFill>
                  <a:srgbClr val="DA0C1A"/>
                </a:solidFill>
                <a:latin typeface="Canva Sans"/>
                <a:ea typeface="Canva Sans"/>
                <a:cs typeface="Canva Sans"/>
                <a:sym typeface="Canva Sans"/>
              </a:rPr>
              <a:t>            ELSE 'INVALID'</a:t>
            </a:r>
          </a:p>
          <a:p>
            <a:pPr algn="l">
              <a:lnSpc>
                <a:spcPts val="1933"/>
              </a:lnSpc>
              <a:spcBef>
                <a:spcPct val="0"/>
              </a:spcBef>
            </a:pPr>
            <a:r>
              <a:rPr lang="en-US" sz="1380">
                <a:solidFill>
                  <a:srgbClr val="DA0C1A"/>
                </a:solidFill>
                <a:latin typeface="Canva Sans"/>
                <a:ea typeface="Canva Sans"/>
                <a:cs typeface="Canva Sans"/>
                <a:sym typeface="Canva Sans"/>
              </a:rPr>
              <a:t>        END AS data_quality_price</a:t>
            </a:r>
          </a:p>
          <a:p>
            <a:pPr algn="l">
              <a:lnSpc>
                <a:spcPts val="1933"/>
              </a:lnSpc>
              <a:spcBef>
                <a:spcPct val="0"/>
              </a:spcBef>
            </a:pPr>
          </a:p>
          <a:p>
            <a:pPr algn="l">
              <a:lnSpc>
                <a:spcPts val="1933"/>
              </a:lnSpc>
              <a:spcBef>
                <a:spcPct val="0"/>
              </a:spcBef>
            </a:pPr>
            <a:r>
              <a:rPr lang="en-US" sz="1380">
                <a:solidFill>
                  <a:srgbClr val="DA0C1A"/>
                </a:solidFill>
                <a:latin typeface="Canva Sans"/>
                <a:ea typeface="Canva Sans"/>
                <a:cs typeface="Canva Sans"/>
                <a:sym typeface="Canva Sans"/>
              </a:rPr>
              <a:t>    FROM remove_null</a:t>
            </a:r>
          </a:p>
        </p:txBody>
      </p:sp>
      <p:grpSp>
        <p:nvGrpSpPr>
          <p:cNvPr name="Group 16" id="16"/>
          <p:cNvGrpSpPr/>
          <p:nvPr/>
        </p:nvGrpSpPr>
        <p:grpSpPr>
          <a:xfrm rot="0">
            <a:off x="16273799" y="-1189510"/>
            <a:ext cx="3581400" cy="35814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F9999"/>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7848995" y="8887176"/>
            <a:ext cx="3581400" cy="358140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F9999"/>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1044285" y="963900"/>
            <a:ext cx="11631600" cy="9323100"/>
            <a:chOff x="0" y="0"/>
            <a:chExt cx="3063467" cy="2455467"/>
          </a:xfrm>
        </p:grpSpPr>
        <p:sp>
          <p:nvSpPr>
            <p:cNvPr name="Freeform 3" id="3"/>
            <p:cNvSpPr/>
            <p:nvPr/>
          </p:nvSpPr>
          <p:spPr>
            <a:xfrm flipH="false" flipV="false" rot="0">
              <a:off x="0" y="0"/>
              <a:ext cx="3063466" cy="2455467"/>
            </a:xfrm>
            <a:custGeom>
              <a:avLst/>
              <a:gdLst/>
              <a:ahLst/>
              <a:cxnLst/>
              <a:rect r="r" b="b" t="t" l="l"/>
              <a:pathLst>
                <a:path h="2455467" w="3063466">
                  <a:moveTo>
                    <a:pt x="29952" y="0"/>
                  </a:moveTo>
                  <a:lnTo>
                    <a:pt x="3033515" y="0"/>
                  </a:lnTo>
                  <a:cubicBezTo>
                    <a:pt x="3050057" y="0"/>
                    <a:pt x="3063466" y="13410"/>
                    <a:pt x="3063466" y="29952"/>
                  </a:cubicBezTo>
                  <a:lnTo>
                    <a:pt x="3063466" y="2425515"/>
                  </a:lnTo>
                  <a:cubicBezTo>
                    <a:pt x="3063466" y="2442057"/>
                    <a:pt x="3050057" y="2455467"/>
                    <a:pt x="3033515" y="2455467"/>
                  </a:cubicBezTo>
                  <a:lnTo>
                    <a:pt x="29952" y="2455467"/>
                  </a:lnTo>
                  <a:cubicBezTo>
                    <a:pt x="13410" y="2455467"/>
                    <a:pt x="0" y="2442057"/>
                    <a:pt x="0" y="2425515"/>
                  </a:cubicBezTo>
                  <a:lnTo>
                    <a:pt x="0" y="29952"/>
                  </a:lnTo>
                  <a:cubicBezTo>
                    <a:pt x="0" y="13410"/>
                    <a:pt x="13410" y="0"/>
                    <a:pt x="29952" y="0"/>
                  </a:cubicBezTo>
                  <a:close/>
                </a:path>
              </a:pathLst>
            </a:custGeom>
            <a:solidFill>
              <a:srgbClr val="FF9999"/>
            </a:solidFill>
          </p:spPr>
        </p:sp>
        <p:sp>
          <p:nvSpPr>
            <p:cNvPr name="TextBox 4" id="4"/>
            <p:cNvSpPr txBox="true"/>
            <p:nvPr/>
          </p:nvSpPr>
          <p:spPr>
            <a:xfrm>
              <a:off x="0" y="-38100"/>
              <a:ext cx="3063467" cy="2493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1360" y="1285078"/>
            <a:ext cx="3286950" cy="691188"/>
            <a:chOff x="0" y="0"/>
            <a:chExt cx="865699" cy="182041"/>
          </a:xfrm>
        </p:grpSpPr>
        <p:sp>
          <p:nvSpPr>
            <p:cNvPr name="Freeform 6" id="6"/>
            <p:cNvSpPr/>
            <p:nvPr/>
          </p:nvSpPr>
          <p:spPr>
            <a:xfrm flipH="false" flipV="false" rot="0">
              <a:off x="0" y="0"/>
              <a:ext cx="865699" cy="182041"/>
            </a:xfrm>
            <a:custGeom>
              <a:avLst/>
              <a:gdLst/>
              <a:ahLst/>
              <a:cxnLst/>
              <a:rect r="r" b="b" t="t" l="l"/>
              <a:pathLst>
                <a:path h="182041" w="865699">
                  <a:moveTo>
                    <a:pt x="63594" y="0"/>
                  </a:moveTo>
                  <a:lnTo>
                    <a:pt x="802104" y="0"/>
                  </a:lnTo>
                  <a:cubicBezTo>
                    <a:pt x="818971" y="0"/>
                    <a:pt x="835146" y="6700"/>
                    <a:pt x="847072" y="18626"/>
                  </a:cubicBezTo>
                  <a:cubicBezTo>
                    <a:pt x="858999" y="30553"/>
                    <a:pt x="865699" y="46728"/>
                    <a:pt x="865699" y="63594"/>
                  </a:cubicBezTo>
                  <a:lnTo>
                    <a:pt x="865699" y="118447"/>
                  </a:lnTo>
                  <a:cubicBezTo>
                    <a:pt x="865699" y="153569"/>
                    <a:pt x="837227" y="182041"/>
                    <a:pt x="802104" y="182041"/>
                  </a:cubicBezTo>
                  <a:lnTo>
                    <a:pt x="63594" y="182041"/>
                  </a:lnTo>
                  <a:cubicBezTo>
                    <a:pt x="28472" y="182041"/>
                    <a:pt x="0" y="153569"/>
                    <a:pt x="0" y="118447"/>
                  </a:cubicBezTo>
                  <a:lnTo>
                    <a:pt x="0" y="63594"/>
                  </a:lnTo>
                  <a:cubicBezTo>
                    <a:pt x="0" y="28472"/>
                    <a:pt x="28472" y="0"/>
                    <a:pt x="63594" y="0"/>
                  </a:cubicBezTo>
                  <a:close/>
                </a:path>
              </a:pathLst>
            </a:custGeom>
            <a:solidFill>
              <a:srgbClr val="FBF3E7"/>
            </a:solidFill>
          </p:spPr>
        </p:sp>
        <p:sp>
          <p:nvSpPr>
            <p:cNvPr name="TextBox 7" id="7"/>
            <p:cNvSpPr txBox="true"/>
            <p:nvPr/>
          </p:nvSpPr>
          <p:spPr>
            <a:xfrm>
              <a:off x="0" y="-38100"/>
              <a:ext cx="865699" cy="22014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797035" y="1724265"/>
            <a:ext cx="7028370" cy="7230870"/>
            <a:chOff x="0" y="0"/>
            <a:chExt cx="1088878" cy="1120251"/>
          </a:xfrm>
        </p:grpSpPr>
        <p:sp>
          <p:nvSpPr>
            <p:cNvPr name="Freeform 9" id="9"/>
            <p:cNvSpPr/>
            <p:nvPr/>
          </p:nvSpPr>
          <p:spPr>
            <a:xfrm flipH="false" flipV="false" rot="0">
              <a:off x="0" y="0"/>
              <a:ext cx="1088878" cy="1120251"/>
            </a:xfrm>
            <a:custGeom>
              <a:avLst/>
              <a:gdLst/>
              <a:ahLst/>
              <a:cxnLst/>
              <a:rect r="r" b="b" t="t" l="l"/>
              <a:pathLst>
                <a:path h="1120251" w="1088878">
                  <a:moveTo>
                    <a:pt x="80411" y="0"/>
                  </a:moveTo>
                  <a:lnTo>
                    <a:pt x="1008467" y="0"/>
                  </a:lnTo>
                  <a:cubicBezTo>
                    <a:pt x="1029794" y="0"/>
                    <a:pt x="1050246" y="8472"/>
                    <a:pt x="1065326" y="23552"/>
                  </a:cubicBezTo>
                  <a:cubicBezTo>
                    <a:pt x="1080407" y="38632"/>
                    <a:pt x="1088878" y="59085"/>
                    <a:pt x="1088878" y="80411"/>
                  </a:cubicBezTo>
                  <a:lnTo>
                    <a:pt x="1088878" y="1039840"/>
                  </a:lnTo>
                  <a:cubicBezTo>
                    <a:pt x="1088878" y="1084250"/>
                    <a:pt x="1052877" y="1120251"/>
                    <a:pt x="1008467" y="1120251"/>
                  </a:cubicBezTo>
                  <a:lnTo>
                    <a:pt x="80411" y="1120251"/>
                  </a:lnTo>
                  <a:cubicBezTo>
                    <a:pt x="36001" y="1120251"/>
                    <a:pt x="0" y="1084250"/>
                    <a:pt x="0" y="1039840"/>
                  </a:cubicBezTo>
                  <a:lnTo>
                    <a:pt x="0" y="80411"/>
                  </a:lnTo>
                  <a:cubicBezTo>
                    <a:pt x="0" y="36001"/>
                    <a:pt x="36001" y="0"/>
                    <a:pt x="80411" y="0"/>
                  </a:cubicBezTo>
                  <a:close/>
                </a:path>
              </a:pathLst>
            </a:custGeom>
            <a:blipFill>
              <a:blip r:embed="rId2"/>
              <a:stretch>
                <a:fillRect l="-27090" t="0" r="-27090" b="0"/>
              </a:stretch>
            </a:blipFill>
          </p:spPr>
        </p:sp>
      </p:grpSp>
      <p:grpSp>
        <p:nvGrpSpPr>
          <p:cNvPr name="Group 10" id="10"/>
          <p:cNvGrpSpPr/>
          <p:nvPr/>
        </p:nvGrpSpPr>
        <p:grpSpPr>
          <a:xfrm rot="0">
            <a:off x="11168385" y="7165522"/>
            <a:ext cx="2930978" cy="293097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0C1A"/>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1414133" y="7411271"/>
            <a:ext cx="2439481" cy="24394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t="0" r="-25046" b="0"/>
              </a:stretch>
            </a:blipFill>
          </p:spPr>
        </p:sp>
      </p:grpSp>
      <p:sp>
        <p:nvSpPr>
          <p:cNvPr name="TextBox 15" id="15"/>
          <p:cNvSpPr txBox="true"/>
          <p:nvPr/>
        </p:nvSpPr>
        <p:spPr>
          <a:xfrm rot="0">
            <a:off x="1350861" y="1484014"/>
            <a:ext cx="3073649" cy="331415"/>
          </a:xfrm>
          <a:prstGeom prst="rect">
            <a:avLst/>
          </a:prstGeom>
        </p:spPr>
        <p:txBody>
          <a:bodyPr anchor="t" rtlCol="false" tIns="0" lIns="0" bIns="0" rIns="0">
            <a:spAutoFit/>
          </a:bodyPr>
          <a:lstStyle/>
          <a:p>
            <a:pPr algn="l" marL="527412" indent="-263706" lvl="1">
              <a:lnSpc>
                <a:spcPts val="2271"/>
              </a:lnSpc>
              <a:buAutoNum type="arabicPeriod" startAt="1"/>
            </a:pPr>
            <a:r>
              <a:rPr lang="en-US" sz="2442">
                <a:solidFill>
                  <a:srgbClr val="DA0C1A"/>
                </a:solidFill>
                <a:latin typeface="Poppins"/>
                <a:ea typeface="Poppins"/>
                <a:cs typeface="Poppins"/>
                <a:sym typeface="Poppins"/>
              </a:rPr>
              <a:t>Cek Duplicate</a:t>
            </a:r>
          </a:p>
        </p:txBody>
      </p:sp>
      <p:grpSp>
        <p:nvGrpSpPr>
          <p:cNvPr name="Group 16" id="16"/>
          <p:cNvGrpSpPr/>
          <p:nvPr/>
        </p:nvGrpSpPr>
        <p:grpSpPr>
          <a:xfrm rot="0">
            <a:off x="7448125" y="8718097"/>
            <a:ext cx="3581400" cy="35814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BF3E7"/>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4852395" y="-2369819"/>
            <a:ext cx="3654896" cy="365489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D0E0ED">
                  <a:alpha val="26667"/>
                </a:srgbClr>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350861" y="9243421"/>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756179" y="2176780"/>
            <a:ext cx="4366855" cy="4028440"/>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SELECT COUNT(*) AS total_duplicated</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FROM cafe_sales_raw</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GROUP BY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transaction_id,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item,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quantity,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price_per_unit,</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total_spent,</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payment_method,</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location, </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transaction_date</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HAVING COUNT(*) &gt; 1;</a:t>
            </a:r>
          </a:p>
        </p:txBody>
      </p:sp>
      <p:grpSp>
        <p:nvGrpSpPr>
          <p:cNvPr name="Group 24" id="24"/>
          <p:cNvGrpSpPr/>
          <p:nvPr/>
        </p:nvGrpSpPr>
        <p:grpSpPr>
          <a:xfrm rot="0">
            <a:off x="8076877" y="1285078"/>
            <a:ext cx="3286950" cy="691188"/>
            <a:chOff x="0" y="0"/>
            <a:chExt cx="865699" cy="182041"/>
          </a:xfrm>
        </p:grpSpPr>
        <p:sp>
          <p:nvSpPr>
            <p:cNvPr name="Freeform 25" id="25"/>
            <p:cNvSpPr/>
            <p:nvPr/>
          </p:nvSpPr>
          <p:spPr>
            <a:xfrm flipH="false" flipV="false" rot="0">
              <a:off x="0" y="0"/>
              <a:ext cx="865699" cy="182041"/>
            </a:xfrm>
            <a:custGeom>
              <a:avLst/>
              <a:gdLst/>
              <a:ahLst/>
              <a:cxnLst/>
              <a:rect r="r" b="b" t="t" l="l"/>
              <a:pathLst>
                <a:path h="182041" w="865699">
                  <a:moveTo>
                    <a:pt x="63594" y="0"/>
                  </a:moveTo>
                  <a:lnTo>
                    <a:pt x="802104" y="0"/>
                  </a:lnTo>
                  <a:cubicBezTo>
                    <a:pt x="818971" y="0"/>
                    <a:pt x="835146" y="6700"/>
                    <a:pt x="847072" y="18626"/>
                  </a:cubicBezTo>
                  <a:cubicBezTo>
                    <a:pt x="858999" y="30553"/>
                    <a:pt x="865699" y="46728"/>
                    <a:pt x="865699" y="63594"/>
                  </a:cubicBezTo>
                  <a:lnTo>
                    <a:pt x="865699" y="118447"/>
                  </a:lnTo>
                  <a:cubicBezTo>
                    <a:pt x="865699" y="153569"/>
                    <a:pt x="837227" y="182041"/>
                    <a:pt x="802104" y="182041"/>
                  </a:cubicBezTo>
                  <a:lnTo>
                    <a:pt x="63594" y="182041"/>
                  </a:lnTo>
                  <a:cubicBezTo>
                    <a:pt x="28472" y="182041"/>
                    <a:pt x="0" y="153569"/>
                    <a:pt x="0" y="118447"/>
                  </a:cubicBezTo>
                  <a:lnTo>
                    <a:pt x="0" y="63594"/>
                  </a:lnTo>
                  <a:cubicBezTo>
                    <a:pt x="0" y="28472"/>
                    <a:pt x="28472" y="0"/>
                    <a:pt x="63594" y="0"/>
                  </a:cubicBezTo>
                  <a:close/>
                </a:path>
              </a:pathLst>
            </a:custGeom>
            <a:solidFill>
              <a:srgbClr val="FBF3E7"/>
            </a:solidFill>
          </p:spPr>
        </p:sp>
        <p:sp>
          <p:nvSpPr>
            <p:cNvPr name="TextBox 26" id="26"/>
            <p:cNvSpPr txBox="true"/>
            <p:nvPr/>
          </p:nvSpPr>
          <p:spPr>
            <a:xfrm>
              <a:off x="0" y="-38100"/>
              <a:ext cx="865699" cy="220141"/>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8290178" y="1484014"/>
            <a:ext cx="3073649" cy="331415"/>
          </a:xfrm>
          <a:prstGeom prst="rect">
            <a:avLst/>
          </a:prstGeom>
        </p:spPr>
        <p:txBody>
          <a:bodyPr anchor="t" rtlCol="false" tIns="0" lIns="0" bIns="0" rIns="0">
            <a:spAutoFit/>
          </a:bodyPr>
          <a:lstStyle/>
          <a:p>
            <a:pPr algn="l" marL="527412" indent="-263706" lvl="1">
              <a:lnSpc>
                <a:spcPts val="2271"/>
              </a:lnSpc>
              <a:buAutoNum type="arabicPeriod" startAt="1"/>
            </a:pPr>
            <a:r>
              <a:rPr lang="en-US" sz="2442">
                <a:solidFill>
                  <a:srgbClr val="DA0C1A"/>
                </a:solidFill>
                <a:latin typeface="Poppins"/>
                <a:ea typeface="Poppins"/>
                <a:cs typeface="Poppins"/>
                <a:sym typeface="Poppins"/>
              </a:rPr>
              <a:t>Remove Null</a:t>
            </a:r>
          </a:p>
        </p:txBody>
      </p:sp>
      <p:sp>
        <p:nvSpPr>
          <p:cNvPr name="TextBox 28" id="28"/>
          <p:cNvSpPr txBox="true"/>
          <p:nvPr/>
        </p:nvSpPr>
        <p:spPr>
          <a:xfrm rot="0">
            <a:off x="8076877" y="2176780"/>
            <a:ext cx="4059642" cy="1694815"/>
          </a:xfrm>
          <a:prstGeom prst="rect">
            <a:avLst/>
          </a:prstGeom>
        </p:spPr>
        <p:txBody>
          <a:bodyPr anchor="t" rtlCol="false" tIns="0" lIns="0" bIns="0" rIns="0">
            <a:spAutoFit/>
          </a:bodyPr>
          <a:lstStyle/>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cafe_sales = df[</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(df['Quantity'].notna())&amp;</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(df['Price Per Unit'].notna())&amp;</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    (df['Total Spent'].notna())</a:t>
            </a:r>
          </a:p>
          <a:p>
            <a:pPr algn="l">
              <a:lnSpc>
                <a:spcPts val="2659"/>
              </a:lnSpc>
              <a:spcBef>
                <a:spcPct val="0"/>
              </a:spcBef>
            </a:pPr>
            <a:r>
              <a:rPr lang="en-US" sz="1899">
                <a:solidFill>
                  <a:srgbClr val="FBF3E7"/>
                </a:solidFill>
                <a:latin typeface="ITC Avant Garde Gothic"/>
                <a:ea typeface="ITC Avant Garde Gothic"/>
                <a:cs typeface="ITC Avant Garde Gothic"/>
                <a:sym typeface="ITC Avant Garde Gothic"/>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grpSp>
        <p:nvGrpSpPr>
          <p:cNvPr name="Group 2" id="2"/>
          <p:cNvGrpSpPr/>
          <p:nvPr/>
        </p:nvGrpSpPr>
        <p:grpSpPr>
          <a:xfrm rot="0">
            <a:off x="12548965" y="3524250"/>
            <a:ext cx="5321319" cy="4447222"/>
            <a:chOff x="0" y="0"/>
            <a:chExt cx="439835" cy="367586"/>
          </a:xfrm>
        </p:grpSpPr>
        <p:sp>
          <p:nvSpPr>
            <p:cNvPr name="Freeform 3" id="3"/>
            <p:cNvSpPr/>
            <p:nvPr/>
          </p:nvSpPr>
          <p:spPr>
            <a:xfrm flipH="false" flipV="false" rot="0">
              <a:off x="0" y="0"/>
              <a:ext cx="439835" cy="367586"/>
            </a:xfrm>
            <a:custGeom>
              <a:avLst/>
              <a:gdLst/>
              <a:ahLst/>
              <a:cxnLst/>
              <a:rect r="r" b="b" t="t" l="l"/>
              <a:pathLst>
                <a:path h="367586" w="439835">
                  <a:moveTo>
                    <a:pt x="46556" y="0"/>
                  </a:moveTo>
                  <a:lnTo>
                    <a:pt x="393279" y="0"/>
                  </a:lnTo>
                  <a:cubicBezTo>
                    <a:pt x="405626" y="0"/>
                    <a:pt x="417468" y="4905"/>
                    <a:pt x="426199" y="13636"/>
                  </a:cubicBezTo>
                  <a:cubicBezTo>
                    <a:pt x="434930" y="22367"/>
                    <a:pt x="439835" y="34209"/>
                    <a:pt x="439835" y="46556"/>
                  </a:cubicBezTo>
                  <a:lnTo>
                    <a:pt x="439835" y="321030"/>
                  </a:lnTo>
                  <a:cubicBezTo>
                    <a:pt x="439835" y="346742"/>
                    <a:pt x="418991" y="367586"/>
                    <a:pt x="393279" y="367586"/>
                  </a:cubicBezTo>
                  <a:lnTo>
                    <a:pt x="46556" y="367586"/>
                  </a:lnTo>
                  <a:cubicBezTo>
                    <a:pt x="34209" y="367586"/>
                    <a:pt x="22367" y="362681"/>
                    <a:pt x="13636" y="353950"/>
                  </a:cubicBezTo>
                  <a:cubicBezTo>
                    <a:pt x="4905" y="345219"/>
                    <a:pt x="0" y="333377"/>
                    <a:pt x="0" y="321030"/>
                  </a:cubicBezTo>
                  <a:lnTo>
                    <a:pt x="0" y="46556"/>
                  </a:lnTo>
                  <a:cubicBezTo>
                    <a:pt x="0" y="34209"/>
                    <a:pt x="4905" y="22367"/>
                    <a:pt x="13636" y="13636"/>
                  </a:cubicBezTo>
                  <a:cubicBezTo>
                    <a:pt x="22367" y="4905"/>
                    <a:pt x="34209" y="0"/>
                    <a:pt x="46556" y="0"/>
                  </a:cubicBezTo>
                  <a:close/>
                </a:path>
              </a:pathLst>
            </a:custGeom>
            <a:blipFill>
              <a:blip r:embed="rId2"/>
              <a:stretch>
                <a:fillRect l="-13139" t="0" r="-13139" b="0"/>
              </a:stretch>
            </a:blipFill>
          </p:spPr>
        </p:sp>
      </p:grpSp>
      <p:grpSp>
        <p:nvGrpSpPr>
          <p:cNvPr name="Group 4" id="4"/>
          <p:cNvGrpSpPr/>
          <p:nvPr/>
        </p:nvGrpSpPr>
        <p:grpSpPr>
          <a:xfrm rot="0">
            <a:off x="14883150" y="-1099416"/>
            <a:ext cx="4256232" cy="425623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D0E0ED">
                  <a:alpha val="26667"/>
                </a:srgbClr>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3513711" y="698452"/>
            <a:ext cx="4225541" cy="422554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999"/>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3868002" y="1052743"/>
            <a:ext cx="3516959" cy="351695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55540" t="0" r="-55540" b="0"/>
              </a:stretch>
            </a:blipFill>
          </p:spPr>
        </p:sp>
      </p:grpSp>
      <p:grpSp>
        <p:nvGrpSpPr>
          <p:cNvPr name="Group 12" id="12"/>
          <p:cNvGrpSpPr/>
          <p:nvPr/>
        </p:nvGrpSpPr>
        <p:grpSpPr>
          <a:xfrm rot="0">
            <a:off x="9144000" y="3524250"/>
            <a:ext cx="3141237" cy="4447222"/>
            <a:chOff x="0" y="0"/>
            <a:chExt cx="259640" cy="367586"/>
          </a:xfrm>
        </p:grpSpPr>
        <p:sp>
          <p:nvSpPr>
            <p:cNvPr name="Freeform 13" id="13"/>
            <p:cNvSpPr/>
            <p:nvPr/>
          </p:nvSpPr>
          <p:spPr>
            <a:xfrm flipH="false" flipV="false" rot="0">
              <a:off x="0" y="0"/>
              <a:ext cx="259640" cy="367586"/>
            </a:xfrm>
            <a:custGeom>
              <a:avLst/>
              <a:gdLst/>
              <a:ahLst/>
              <a:cxnLst/>
              <a:rect r="r" b="b" t="t" l="l"/>
              <a:pathLst>
                <a:path h="367586" w="259640">
                  <a:moveTo>
                    <a:pt x="78867" y="0"/>
                  </a:moveTo>
                  <a:lnTo>
                    <a:pt x="180772" y="0"/>
                  </a:lnTo>
                  <a:cubicBezTo>
                    <a:pt x="224330" y="0"/>
                    <a:pt x="259640" y="35310"/>
                    <a:pt x="259640" y="78867"/>
                  </a:cubicBezTo>
                  <a:lnTo>
                    <a:pt x="259640" y="288719"/>
                  </a:lnTo>
                  <a:cubicBezTo>
                    <a:pt x="259640" y="332276"/>
                    <a:pt x="224330" y="367586"/>
                    <a:pt x="180772" y="367586"/>
                  </a:cubicBezTo>
                  <a:lnTo>
                    <a:pt x="78867" y="367586"/>
                  </a:lnTo>
                  <a:cubicBezTo>
                    <a:pt x="57951" y="367586"/>
                    <a:pt x="37890" y="359277"/>
                    <a:pt x="23100" y="344487"/>
                  </a:cubicBezTo>
                  <a:cubicBezTo>
                    <a:pt x="8309" y="329696"/>
                    <a:pt x="0" y="309636"/>
                    <a:pt x="0" y="288719"/>
                  </a:cubicBezTo>
                  <a:lnTo>
                    <a:pt x="0" y="78867"/>
                  </a:lnTo>
                  <a:cubicBezTo>
                    <a:pt x="0" y="35310"/>
                    <a:pt x="35310" y="0"/>
                    <a:pt x="78867" y="0"/>
                  </a:cubicBezTo>
                  <a:close/>
                </a:path>
              </a:pathLst>
            </a:custGeom>
            <a:blipFill>
              <a:blip r:embed="rId4"/>
              <a:stretch>
                <a:fillRect l="-30507" t="0" r="-58259" b="0"/>
              </a:stretch>
            </a:blipFill>
          </p:spPr>
        </p:sp>
      </p:grpSp>
      <p:sp>
        <p:nvSpPr>
          <p:cNvPr name="Freeform 14" id="14"/>
          <p:cNvSpPr/>
          <p:nvPr/>
        </p:nvSpPr>
        <p:spPr>
          <a:xfrm flipH="false" flipV="false" rot="0">
            <a:off x="7874034" y="2014363"/>
            <a:ext cx="1224203" cy="1224203"/>
          </a:xfrm>
          <a:custGeom>
            <a:avLst/>
            <a:gdLst/>
            <a:ahLst/>
            <a:cxnLst/>
            <a:rect r="r" b="b" t="t" l="l"/>
            <a:pathLst>
              <a:path h="1224203" w="1224203">
                <a:moveTo>
                  <a:pt x="0" y="0"/>
                </a:moveTo>
                <a:lnTo>
                  <a:pt x="1224203" y="0"/>
                </a:lnTo>
                <a:lnTo>
                  <a:pt x="1224203" y="1224203"/>
                </a:lnTo>
                <a:lnTo>
                  <a:pt x="0" y="1224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6979643" y="8195212"/>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857250" y="253745"/>
            <a:ext cx="13046534" cy="1622420"/>
          </a:xfrm>
          <a:prstGeom prst="rect">
            <a:avLst/>
          </a:prstGeom>
        </p:spPr>
        <p:txBody>
          <a:bodyPr anchor="t" rtlCol="false" tIns="0" lIns="0" bIns="0" rIns="0">
            <a:spAutoFit/>
          </a:bodyPr>
          <a:lstStyle/>
          <a:p>
            <a:pPr algn="l" marL="1835193" indent="-917597" lvl="1">
              <a:lnSpc>
                <a:spcPts val="11900"/>
              </a:lnSpc>
              <a:buAutoNum type="arabicPeriod" startAt="1"/>
            </a:pPr>
            <a:r>
              <a:rPr lang="en-US" b="true" sz="8500">
                <a:solidFill>
                  <a:srgbClr val="DA0C1A"/>
                </a:solidFill>
                <a:latin typeface="ITC Avant Garde Gothic Bold"/>
                <a:ea typeface="ITC Avant Garde Gothic Bold"/>
                <a:cs typeface="ITC Avant Garde Gothic Bold"/>
                <a:sym typeface="ITC Avant Garde Gothic Bold"/>
              </a:rPr>
              <a:t>Feature Engineering</a:t>
            </a:r>
          </a:p>
        </p:txBody>
      </p:sp>
      <p:grpSp>
        <p:nvGrpSpPr>
          <p:cNvPr name="Group 17" id="17"/>
          <p:cNvGrpSpPr/>
          <p:nvPr/>
        </p:nvGrpSpPr>
        <p:grpSpPr>
          <a:xfrm rot="0">
            <a:off x="482210" y="2465628"/>
            <a:ext cx="3286950" cy="691188"/>
            <a:chOff x="0" y="0"/>
            <a:chExt cx="865699" cy="182041"/>
          </a:xfrm>
        </p:grpSpPr>
        <p:sp>
          <p:nvSpPr>
            <p:cNvPr name="Freeform 18" id="18"/>
            <p:cNvSpPr/>
            <p:nvPr/>
          </p:nvSpPr>
          <p:spPr>
            <a:xfrm flipH="false" flipV="false" rot="0">
              <a:off x="0" y="0"/>
              <a:ext cx="865699" cy="182041"/>
            </a:xfrm>
            <a:custGeom>
              <a:avLst/>
              <a:gdLst/>
              <a:ahLst/>
              <a:cxnLst/>
              <a:rect r="r" b="b" t="t" l="l"/>
              <a:pathLst>
                <a:path h="182041" w="865699">
                  <a:moveTo>
                    <a:pt x="63594" y="0"/>
                  </a:moveTo>
                  <a:lnTo>
                    <a:pt x="802104" y="0"/>
                  </a:lnTo>
                  <a:cubicBezTo>
                    <a:pt x="818971" y="0"/>
                    <a:pt x="835146" y="6700"/>
                    <a:pt x="847072" y="18626"/>
                  </a:cubicBezTo>
                  <a:cubicBezTo>
                    <a:pt x="858999" y="30553"/>
                    <a:pt x="865699" y="46728"/>
                    <a:pt x="865699" y="63594"/>
                  </a:cubicBezTo>
                  <a:lnTo>
                    <a:pt x="865699" y="118447"/>
                  </a:lnTo>
                  <a:cubicBezTo>
                    <a:pt x="865699" y="153569"/>
                    <a:pt x="837227" y="182041"/>
                    <a:pt x="802104" y="182041"/>
                  </a:cubicBezTo>
                  <a:lnTo>
                    <a:pt x="63594" y="182041"/>
                  </a:lnTo>
                  <a:cubicBezTo>
                    <a:pt x="28472" y="182041"/>
                    <a:pt x="0" y="153569"/>
                    <a:pt x="0" y="118447"/>
                  </a:cubicBezTo>
                  <a:lnTo>
                    <a:pt x="0" y="63594"/>
                  </a:lnTo>
                  <a:cubicBezTo>
                    <a:pt x="0" y="28472"/>
                    <a:pt x="28472" y="0"/>
                    <a:pt x="63594" y="0"/>
                  </a:cubicBezTo>
                  <a:close/>
                </a:path>
              </a:pathLst>
            </a:custGeom>
            <a:solidFill>
              <a:srgbClr val="FF9999"/>
            </a:solidFill>
          </p:spPr>
        </p:sp>
        <p:sp>
          <p:nvSpPr>
            <p:cNvPr name="TextBox 19" id="19"/>
            <p:cNvSpPr txBox="true"/>
            <p:nvPr/>
          </p:nvSpPr>
          <p:spPr>
            <a:xfrm>
              <a:off x="0" y="-38100"/>
              <a:ext cx="865699" cy="220141"/>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792810" y="2664564"/>
            <a:ext cx="2665750" cy="331415"/>
          </a:xfrm>
          <a:prstGeom prst="rect">
            <a:avLst/>
          </a:prstGeom>
        </p:spPr>
        <p:txBody>
          <a:bodyPr anchor="t" rtlCol="false" tIns="0" lIns="0" bIns="0" rIns="0">
            <a:spAutoFit/>
          </a:bodyPr>
          <a:lstStyle/>
          <a:p>
            <a:pPr algn="ctr">
              <a:lnSpc>
                <a:spcPts val="2271"/>
              </a:lnSpc>
            </a:pPr>
            <a:r>
              <a:rPr lang="en-US" sz="2442">
                <a:solidFill>
                  <a:srgbClr val="FBF3E7"/>
                </a:solidFill>
                <a:latin typeface="Poppins"/>
                <a:ea typeface="Poppins"/>
                <a:cs typeface="Poppins"/>
                <a:sym typeface="Poppins"/>
              </a:rPr>
              <a:t>Excel</a:t>
            </a:r>
          </a:p>
        </p:txBody>
      </p:sp>
      <p:sp>
        <p:nvSpPr>
          <p:cNvPr name="TextBox 21" id="21"/>
          <p:cNvSpPr txBox="true"/>
          <p:nvPr/>
        </p:nvSpPr>
        <p:spPr>
          <a:xfrm rot="0">
            <a:off x="792810" y="3311355"/>
            <a:ext cx="5078471" cy="2028190"/>
          </a:xfrm>
          <a:prstGeom prst="rect">
            <a:avLst/>
          </a:prstGeom>
        </p:spPr>
        <p:txBody>
          <a:bodyPr anchor="t" rtlCol="false" tIns="0" lIns="0" bIns="0" rIns="0">
            <a:spAutoFit/>
          </a:bodyPr>
          <a:lstStyle/>
          <a:p>
            <a:pPr algn="l">
              <a:lnSpc>
                <a:spcPts val="2659"/>
              </a:lnSpc>
            </a:pPr>
            <a:r>
              <a:rPr lang="en-US" sz="1899">
                <a:solidFill>
                  <a:srgbClr val="DA0C1A"/>
                </a:solidFill>
                <a:latin typeface="ITC Avant Garde Gothic"/>
                <a:ea typeface="ITC Avant Garde Gothic"/>
                <a:cs typeface="ITC Avant Garde Gothic"/>
                <a:sym typeface="ITC Avant Garde Gothic"/>
              </a:rPr>
              <a:t>A. Funtion</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=TEXT(H2,”dddd”)</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=TEXT(H2,”mmmm”)</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B. Power Queri</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Date.DayOfWeekName([Transaction ID])</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Date.MonthName([Transaction ID])</a:t>
            </a:r>
          </a:p>
        </p:txBody>
      </p:sp>
      <p:grpSp>
        <p:nvGrpSpPr>
          <p:cNvPr name="Group 22" id="22"/>
          <p:cNvGrpSpPr/>
          <p:nvPr/>
        </p:nvGrpSpPr>
        <p:grpSpPr>
          <a:xfrm rot="0">
            <a:off x="482210" y="5895973"/>
            <a:ext cx="3286950" cy="691188"/>
            <a:chOff x="0" y="0"/>
            <a:chExt cx="865699" cy="182041"/>
          </a:xfrm>
        </p:grpSpPr>
        <p:sp>
          <p:nvSpPr>
            <p:cNvPr name="Freeform 23" id="23"/>
            <p:cNvSpPr/>
            <p:nvPr/>
          </p:nvSpPr>
          <p:spPr>
            <a:xfrm flipH="false" flipV="false" rot="0">
              <a:off x="0" y="0"/>
              <a:ext cx="865699" cy="182041"/>
            </a:xfrm>
            <a:custGeom>
              <a:avLst/>
              <a:gdLst/>
              <a:ahLst/>
              <a:cxnLst/>
              <a:rect r="r" b="b" t="t" l="l"/>
              <a:pathLst>
                <a:path h="182041" w="865699">
                  <a:moveTo>
                    <a:pt x="63594" y="0"/>
                  </a:moveTo>
                  <a:lnTo>
                    <a:pt x="802104" y="0"/>
                  </a:lnTo>
                  <a:cubicBezTo>
                    <a:pt x="818971" y="0"/>
                    <a:pt x="835146" y="6700"/>
                    <a:pt x="847072" y="18626"/>
                  </a:cubicBezTo>
                  <a:cubicBezTo>
                    <a:pt x="858999" y="30553"/>
                    <a:pt x="865699" y="46728"/>
                    <a:pt x="865699" y="63594"/>
                  </a:cubicBezTo>
                  <a:lnTo>
                    <a:pt x="865699" y="118447"/>
                  </a:lnTo>
                  <a:cubicBezTo>
                    <a:pt x="865699" y="153569"/>
                    <a:pt x="837227" y="182041"/>
                    <a:pt x="802104" y="182041"/>
                  </a:cubicBezTo>
                  <a:lnTo>
                    <a:pt x="63594" y="182041"/>
                  </a:lnTo>
                  <a:cubicBezTo>
                    <a:pt x="28472" y="182041"/>
                    <a:pt x="0" y="153569"/>
                    <a:pt x="0" y="118447"/>
                  </a:cubicBezTo>
                  <a:lnTo>
                    <a:pt x="0" y="63594"/>
                  </a:lnTo>
                  <a:cubicBezTo>
                    <a:pt x="0" y="28472"/>
                    <a:pt x="28472" y="0"/>
                    <a:pt x="63594" y="0"/>
                  </a:cubicBezTo>
                  <a:close/>
                </a:path>
              </a:pathLst>
            </a:custGeom>
            <a:solidFill>
              <a:srgbClr val="FF9999"/>
            </a:solidFill>
          </p:spPr>
        </p:sp>
        <p:sp>
          <p:nvSpPr>
            <p:cNvPr name="TextBox 24" id="24"/>
            <p:cNvSpPr txBox="true"/>
            <p:nvPr/>
          </p:nvSpPr>
          <p:spPr>
            <a:xfrm>
              <a:off x="0" y="-38100"/>
              <a:ext cx="865699" cy="220141"/>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792810" y="6130121"/>
            <a:ext cx="2665750" cy="331415"/>
          </a:xfrm>
          <a:prstGeom prst="rect">
            <a:avLst/>
          </a:prstGeom>
        </p:spPr>
        <p:txBody>
          <a:bodyPr anchor="t" rtlCol="false" tIns="0" lIns="0" bIns="0" rIns="0">
            <a:spAutoFit/>
          </a:bodyPr>
          <a:lstStyle/>
          <a:p>
            <a:pPr algn="ctr">
              <a:lnSpc>
                <a:spcPts val="2271"/>
              </a:lnSpc>
            </a:pPr>
            <a:r>
              <a:rPr lang="en-US" sz="2442">
                <a:solidFill>
                  <a:srgbClr val="FBF3E7"/>
                </a:solidFill>
                <a:latin typeface="Poppins"/>
                <a:ea typeface="Poppins"/>
                <a:cs typeface="Poppins"/>
                <a:sym typeface="Poppins"/>
              </a:rPr>
              <a:t>SQL</a:t>
            </a:r>
          </a:p>
        </p:txBody>
      </p:sp>
      <p:sp>
        <p:nvSpPr>
          <p:cNvPr name="TextBox 26" id="26"/>
          <p:cNvSpPr txBox="true"/>
          <p:nvPr/>
        </p:nvSpPr>
        <p:spPr>
          <a:xfrm rot="0">
            <a:off x="792810" y="6739561"/>
            <a:ext cx="5093613" cy="2694940"/>
          </a:xfrm>
          <a:prstGeom prst="rect">
            <a:avLst/>
          </a:prstGeom>
        </p:spPr>
        <p:txBody>
          <a:bodyPr anchor="t" rtlCol="false" tIns="0" lIns="0" bIns="0" rIns="0">
            <a:spAutoFit/>
          </a:bodyPr>
          <a:lstStyle/>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feature_engineering AS(</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 SELECT</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  *,</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  DAYNAME(transaction_date) AS day,</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  MONTHNAME(transaction_date) AS month</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 FROM remove_null</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SELECT * FROM feature_engineering;</a:t>
            </a:r>
          </a:p>
        </p:txBody>
      </p:sp>
      <p:grpSp>
        <p:nvGrpSpPr>
          <p:cNvPr name="Group 27" id="27"/>
          <p:cNvGrpSpPr/>
          <p:nvPr/>
        </p:nvGrpSpPr>
        <p:grpSpPr>
          <a:xfrm rot="0">
            <a:off x="7958735" y="8357103"/>
            <a:ext cx="3286950" cy="691188"/>
            <a:chOff x="0" y="0"/>
            <a:chExt cx="865699" cy="182041"/>
          </a:xfrm>
        </p:grpSpPr>
        <p:sp>
          <p:nvSpPr>
            <p:cNvPr name="Freeform 28" id="28"/>
            <p:cNvSpPr/>
            <p:nvPr/>
          </p:nvSpPr>
          <p:spPr>
            <a:xfrm flipH="false" flipV="false" rot="0">
              <a:off x="0" y="0"/>
              <a:ext cx="865699" cy="182041"/>
            </a:xfrm>
            <a:custGeom>
              <a:avLst/>
              <a:gdLst/>
              <a:ahLst/>
              <a:cxnLst/>
              <a:rect r="r" b="b" t="t" l="l"/>
              <a:pathLst>
                <a:path h="182041" w="865699">
                  <a:moveTo>
                    <a:pt x="63594" y="0"/>
                  </a:moveTo>
                  <a:lnTo>
                    <a:pt x="802104" y="0"/>
                  </a:lnTo>
                  <a:cubicBezTo>
                    <a:pt x="818971" y="0"/>
                    <a:pt x="835146" y="6700"/>
                    <a:pt x="847072" y="18626"/>
                  </a:cubicBezTo>
                  <a:cubicBezTo>
                    <a:pt x="858999" y="30553"/>
                    <a:pt x="865699" y="46728"/>
                    <a:pt x="865699" y="63594"/>
                  </a:cubicBezTo>
                  <a:lnTo>
                    <a:pt x="865699" y="118447"/>
                  </a:lnTo>
                  <a:cubicBezTo>
                    <a:pt x="865699" y="153569"/>
                    <a:pt x="837227" y="182041"/>
                    <a:pt x="802104" y="182041"/>
                  </a:cubicBezTo>
                  <a:lnTo>
                    <a:pt x="63594" y="182041"/>
                  </a:lnTo>
                  <a:cubicBezTo>
                    <a:pt x="28472" y="182041"/>
                    <a:pt x="0" y="153569"/>
                    <a:pt x="0" y="118447"/>
                  </a:cubicBezTo>
                  <a:lnTo>
                    <a:pt x="0" y="63594"/>
                  </a:lnTo>
                  <a:cubicBezTo>
                    <a:pt x="0" y="28472"/>
                    <a:pt x="28472" y="0"/>
                    <a:pt x="63594" y="0"/>
                  </a:cubicBezTo>
                  <a:close/>
                </a:path>
              </a:pathLst>
            </a:custGeom>
            <a:solidFill>
              <a:srgbClr val="FF9999"/>
            </a:solidFill>
          </p:spPr>
        </p:sp>
        <p:sp>
          <p:nvSpPr>
            <p:cNvPr name="TextBox 29" id="29"/>
            <p:cNvSpPr txBox="true"/>
            <p:nvPr/>
          </p:nvSpPr>
          <p:spPr>
            <a:xfrm>
              <a:off x="0" y="-38100"/>
              <a:ext cx="865699" cy="220141"/>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8269336" y="8556039"/>
            <a:ext cx="2665750" cy="331415"/>
          </a:xfrm>
          <a:prstGeom prst="rect">
            <a:avLst/>
          </a:prstGeom>
        </p:spPr>
        <p:txBody>
          <a:bodyPr anchor="t" rtlCol="false" tIns="0" lIns="0" bIns="0" rIns="0">
            <a:spAutoFit/>
          </a:bodyPr>
          <a:lstStyle/>
          <a:p>
            <a:pPr algn="ctr">
              <a:lnSpc>
                <a:spcPts val="2271"/>
              </a:lnSpc>
            </a:pPr>
            <a:r>
              <a:rPr lang="en-US" sz="2442">
                <a:solidFill>
                  <a:srgbClr val="FBF3E7"/>
                </a:solidFill>
                <a:latin typeface="Poppins"/>
                <a:ea typeface="Poppins"/>
                <a:cs typeface="Poppins"/>
                <a:sym typeface="Poppins"/>
              </a:rPr>
              <a:t>Python</a:t>
            </a:r>
          </a:p>
        </p:txBody>
      </p:sp>
      <p:sp>
        <p:nvSpPr>
          <p:cNvPr name="TextBox 31" id="31"/>
          <p:cNvSpPr txBox="true"/>
          <p:nvPr/>
        </p:nvSpPr>
        <p:spPr>
          <a:xfrm rot="0">
            <a:off x="8486136" y="9358302"/>
            <a:ext cx="7823002" cy="694690"/>
          </a:xfrm>
          <a:prstGeom prst="rect">
            <a:avLst/>
          </a:prstGeom>
        </p:spPr>
        <p:txBody>
          <a:bodyPr anchor="t" rtlCol="false" tIns="0" lIns="0" bIns="0" rIns="0">
            <a:spAutoFit/>
          </a:bodyPr>
          <a:lstStyle/>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cafe_sales['day'] = cafe_sales['Transaction Date'].dt.strftime('%A')</a:t>
            </a:r>
          </a:p>
          <a:p>
            <a:pPr algn="l">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cafe_sales['month'] = cafe_sales['Transaction Date'].dt.strftime('%B')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sp>
        <p:nvSpPr>
          <p:cNvPr name="Freeform 2" id="2"/>
          <p:cNvSpPr/>
          <p:nvPr/>
        </p:nvSpPr>
        <p:spPr>
          <a:xfrm flipH="false" flipV="false" rot="0">
            <a:off x="16794725" y="8646199"/>
            <a:ext cx="1224203" cy="1224203"/>
          </a:xfrm>
          <a:custGeom>
            <a:avLst/>
            <a:gdLst/>
            <a:ahLst/>
            <a:cxnLst/>
            <a:rect r="r" b="b" t="t" l="l"/>
            <a:pathLst>
              <a:path h="1224203" w="1224203">
                <a:moveTo>
                  <a:pt x="0" y="0"/>
                </a:moveTo>
                <a:lnTo>
                  <a:pt x="1224202" y="0"/>
                </a:lnTo>
                <a:lnTo>
                  <a:pt x="1224202" y="1224202"/>
                </a:lnTo>
                <a:lnTo>
                  <a:pt x="0" y="12242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8063" y="339600"/>
            <a:ext cx="810637" cy="853079"/>
          </a:xfrm>
          <a:custGeom>
            <a:avLst/>
            <a:gdLst/>
            <a:ahLst/>
            <a:cxnLst/>
            <a:rect r="r" b="b" t="t" l="l"/>
            <a:pathLst>
              <a:path h="853079" w="810637">
                <a:moveTo>
                  <a:pt x="0" y="0"/>
                </a:moveTo>
                <a:lnTo>
                  <a:pt x="810637" y="0"/>
                </a:lnTo>
                <a:lnTo>
                  <a:pt x="810637" y="853079"/>
                </a:lnTo>
                <a:lnTo>
                  <a:pt x="0" y="853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228227" y="-1293285"/>
            <a:ext cx="3581400" cy="35814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704850" cap="sq">
              <a:solidFill>
                <a:srgbClr val="FF9999"/>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579610" y="2991069"/>
            <a:ext cx="9665599" cy="3302643"/>
            <a:chOff x="0" y="0"/>
            <a:chExt cx="1497454" cy="511666"/>
          </a:xfrm>
        </p:grpSpPr>
        <p:sp>
          <p:nvSpPr>
            <p:cNvPr name="Freeform 8" id="8"/>
            <p:cNvSpPr/>
            <p:nvPr/>
          </p:nvSpPr>
          <p:spPr>
            <a:xfrm flipH="false" flipV="false" rot="0">
              <a:off x="0" y="0"/>
              <a:ext cx="1497454" cy="511666"/>
            </a:xfrm>
            <a:custGeom>
              <a:avLst/>
              <a:gdLst/>
              <a:ahLst/>
              <a:cxnLst/>
              <a:rect r="r" b="b" t="t" l="l"/>
              <a:pathLst>
                <a:path h="511666" w="1497454">
                  <a:moveTo>
                    <a:pt x="18422" y="0"/>
                  </a:moveTo>
                  <a:lnTo>
                    <a:pt x="1479032" y="0"/>
                  </a:lnTo>
                  <a:cubicBezTo>
                    <a:pt x="1483918" y="0"/>
                    <a:pt x="1488604" y="1941"/>
                    <a:pt x="1492058" y="5396"/>
                  </a:cubicBezTo>
                  <a:cubicBezTo>
                    <a:pt x="1495513" y="8851"/>
                    <a:pt x="1497454" y="13537"/>
                    <a:pt x="1497454" y="18422"/>
                  </a:cubicBezTo>
                  <a:lnTo>
                    <a:pt x="1497454" y="493243"/>
                  </a:lnTo>
                  <a:cubicBezTo>
                    <a:pt x="1497454" y="503418"/>
                    <a:pt x="1489206" y="511666"/>
                    <a:pt x="1479032" y="511666"/>
                  </a:cubicBezTo>
                  <a:lnTo>
                    <a:pt x="18422" y="511666"/>
                  </a:lnTo>
                  <a:cubicBezTo>
                    <a:pt x="13537" y="511666"/>
                    <a:pt x="8851" y="509725"/>
                    <a:pt x="5396" y="506270"/>
                  </a:cubicBezTo>
                  <a:cubicBezTo>
                    <a:pt x="1941" y="502815"/>
                    <a:pt x="0" y="498129"/>
                    <a:pt x="0" y="493243"/>
                  </a:cubicBezTo>
                  <a:lnTo>
                    <a:pt x="0" y="18422"/>
                  </a:lnTo>
                  <a:cubicBezTo>
                    <a:pt x="0" y="13537"/>
                    <a:pt x="1941" y="8851"/>
                    <a:pt x="5396" y="5396"/>
                  </a:cubicBezTo>
                  <a:cubicBezTo>
                    <a:pt x="8851" y="1941"/>
                    <a:pt x="13537" y="0"/>
                    <a:pt x="18422" y="0"/>
                  </a:cubicBezTo>
                  <a:close/>
                </a:path>
              </a:pathLst>
            </a:custGeom>
            <a:blipFill>
              <a:blip r:embed="rId6"/>
              <a:stretch>
                <a:fillRect l="0" t="-2944" r="0" b="-2944"/>
              </a:stretch>
            </a:blipFill>
          </p:spPr>
        </p:sp>
      </p:grpSp>
      <p:grpSp>
        <p:nvGrpSpPr>
          <p:cNvPr name="Group 9" id="9"/>
          <p:cNvGrpSpPr/>
          <p:nvPr/>
        </p:nvGrpSpPr>
        <p:grpSpPr>
          <a:xfrm rot="0">
            <a:off x="579610" y="7150427"/>
            <a:ext cx="12313523" cy="2490055"/>
            <a:chOff x="0" y="0"/>
            <a:chExt cx="2684761" cy="542916"/>
          </a:xfrm>
        </p:grpSpPr>
        <p:sp>
          <p:nvSpPr>
            <p:cNvPr name="Freeform 10" id="10"/>
            <p:cNvSpPr/>
            <p:nvPr/>
          </p:nvSpPr>
          <p:spPr>
            <a:xfrm flipH="false" flipV="false" rot="0">
              <a:off x="0" y="0"/>
              <a:ext cx="2684761" cy="542916"/>
            </a:xfrm>
            <a:custGeom>
              <a:avLst/>
              <a:gdLst/>
              <a:ahLst/>
              <a:cxnLst/>
              <a:rect r="r" b="b" t="t" l="l"/>
              <a:pathLst>
                <a:path h="542916" w="2684761">
                  <a:moveTo>
                    <a:pt x="14461" y="0"/>
                  </a:moveTo>
                  <a:lnTo>
                    <a:pt x="2670300" y="0"/>
                  </a:lnTo>
                  <a:cubicBezTo>
                    <a:pt x="2678287" y="0"/>
                    <a:pt x="2684761" y="6474"/>
                    <a:pt x="2684761" y="14461"/>
                  </a:cubicBezTo>
                  <a:lnTo>
                    <a:pt x="2684761" y="528455"/>
                  </a:lnTo>
                  <a:cubicBezTo>
                    <a:pt x="2684761" y="532290"/>
                    <a:pt x="2683238" y="535968"/>
                    <a:pt x="2680526" y="538680"/>
                  </a:cubicBezTo>
                  <a:cubicBezTo>
                    <a:pt x="2677814" y="541392"/>
                    <a:pt x="2674136" y="542916"/>
                    <a:pt x="2670300" y="542916"/>
                  </a:cubicBezTo>
                  <a:lnTo>
                    <a:pt x="14461" y="542916"/>
                  </a:lnTo>
                  <a:cubicBezTo>
                    <a:pt x="10626" y="542916"/>
                    <a:pt x="6947" y="541392"/>
                    <a:pt x="4235" y="538680"/>
                  </a:cubicBezTo>
                  <a:cubicBezTo>
                    <a:pt x="1524" y="535968"/>
                    <a:pt x="0" y="532290"/>
                    <a:pt x="0" y="528455"/>
                  </a:cubicBezTo>
                  <a:lnTo>
                    <a:pt x="0" y="14461"/>
                  </a:lnTo>
                  <a:cubicBezTo>
                    <a:pt x="0" y="10626"/>
                    <a:pt x="1524" y="6947"/>
                    <a:pt x="4235" y="4235"/>
                  </a:cubicBezTo>
                  <a:cubicBezTo>
                    <a:pt x="6947" y="1524"/>
                    <a:pt x="10626" y="0"/>
                    <a:pt x="14461" y="0"/>
                  </a:cubicBezTo>
                  <a:close/>
                </a:path>
              </a:pathLst>
            </a:custGeom>
            <a:blipFill>
              <a:blip r:embed="rId7"/>
              <a:stretch>
                <a:fillRect l="-486" t="0" r="-486" b="0"/>
              </a:stretch>
            </a:blipFill>
          </p:spPr>
        </p:sp>
      </p:grpSp>
      <p:sp>
        <p:nvSpPr>
          <p:cNvPr name="TextBox 11" id="11"/>
          <p:cNvSpPr txBox="true"/>
          <p:nvPr/>
        </p:nvSpPr>
        <p:spPr>
          <a:xfrm rot="0">
            <a:off x="11085942" y="3265396"/>
            <a:ext cx="6607298" cy="3028315"/>
          </a:xfrm>
          <a:prstGeom prst="rect">
            <a:avLst/>
          </a:prstGeom>
        </p:spPr>
        <p:txBody>
          <a:bodyPr anchor="t" rtlCol="false" tIns="0" lIns="0" bIns="0" rIns="0">
            <a:spAutoFit/>
          </a:bodyPr>
          <a:lstStyle/>
          <a:p>
            <a:pPr algn="just">
              <a:lnSpc>
                <a:spcPts val="2659"/>
              </a:lnSpc>
              <a:spcBef>
                <a:spcPct val="0"/>
              </a:spcBef>
            </a:pPr>
            <a:r>
              <a:rPr lang="en-US" sz="1899">
                <a:solidFill>
                  <a:srgbClr val="DA0C1A"/>
                </a:solidFill>
                <a:latin typeface="ITC Avant Garde Gothic"/>
                <a:ea typeface="ITC Avant Garde Gothic"/>
                <a:cs typeface="ITC Avant Garde Gothic"/>
                <a:sym typeface="ITC Avant Garde Gothic"/>
              </a:rPr>
              <a:t>Dirty Cafe Sales Dataset</a:t>
            </a:r>
            <a:r>
              <a:rPr lang="en-US" sz="1899">
                <a:solidFill>
                  <a:srgbClr val="DA0C1A"/>
                </a:solidFill>
                <a:latin typeface="ITC Avant Garde Gothic"/>
                <a:ea typeface="ITC Avant Garde Gothic"/>
                <a:cs typeface="ITC Avant Garde Gothic"/>
                <a:sym typeface="ITC Avant Garde Gothic"/>
              </a:rPr>
              <a:t> was successfully transformed from a raw and inconsistent dataset into a cleaner and analysis-ready dataset. The cleaning process addressed missing values, inconsistent entries, incorrect data types, and incomplete numerical information. Logical relationships between Quantity, Price Per Unit, and Total Spent were also validated to ensure data consistency. The cleaned dataset can now be used for further exploratory data analysis and business insights.</a:t>
            </a:r>
          </a:p>
        </p:txBody>
      </p:sp>
      <p:sp>
        <p:nvSpPr>
          <p:cNvPr name="TextBox 12" id="12"/>
          <p:cNvSpPr txBox="true"/>
          <p:nvPr/>
        </p:nvSpPr>
        <p:spPr>
          <a:xfrm rot="0">
            <a:off x="4789654" y="2362229"/>
            <a:ext cx="1245513" cy="581025"/>
          </a:xfrm>
          <a:prstGeom prst="rect">
            <a:avLst/>
          </a:prstGeom>
        </p:spPr>
        <p:txBody>
          <a:bodyPr anchor="t" rtlCol="false" tIns="0" lIns="0" bIns="0" rIns="0">
            <a:spAutoFit/>
          </a:bodyPr>
          <a:lstStyle/>
          <a:p>
            <a:pPr algn="ctr">
              <a:lnSpc>
                <a:spcPts val="4200"/>
              </a:lnSpc>
            </a:pPr>
            <a:r>
              <a:rPr lang="en-US" sz="3000" b="true">
                <a:solidFill>
                  <a:srgbClr val="DA0C1A"/>
                </a:solidFill>
                <a:latin typeface="ITC Avant Garde Gothic Bold"/>
                <a:ea typeface="ITC Avant Garde Gothic Bold"/>
                <a:cs typeface="ITC Avant Garde Gothic Bold"/>
                <a:sym typeface="ITC Avant Garde Gothic Bold"/>
              </a:rPr>
              <a:t>Before</a:t>
            </a:r>
          </a:p>
        </p:txBody>
      </p:sp>
      <p:sp>
        <p:nvSpPr>
          <p:cNvPr name="TextBox 13" id="13"/>
          <p:cNvSpPr txBox="true"/>
          <p:nvPr/>
        </p:nvSpPr>
        <p:spPr>
          <a:xfrm rot="0">
            <a:off x="4951936" y="6569402"/>
            <a:ext cx="920948" cy="581025"/>
          </a:xfrm>
          <a:prstGeom prst="rect">
            <a:avLst/>
          </a:prstGeom>
        </p:spPr>
        <p:txBody>
          <a:bodyPr anchor="t" rtlCol="false" tIns="0" lIns="0" bIns="0" rIns="0">
            <a:spAutoFit/>
          </a:bodyPr>
          <a:lstStyle/>
          <a:p>
            <a:pPr algn="ctr">
              <a:lnSpc>
                <a:spcPts val="4200"/>
              </a:lnSpc>
            </a:pPr>
            <a:r>
              <a:rPr lang="en-US" sz="3000" b="true">
                <a:solidFill>
                  <a:srgbClr val="DA0C1A"/>
                </a:solidFill>
                <a:latin typeface="ITC Avant Garde Gothic Bold"/>
                <a:ea typeface="ITC Avant Garde Gothic Bold"/>
                <a:cs typeface="ITC Avant Garde Gothic Bold"/>
                <a:sym typeface="ITC Avant Garde Gothic Bold"/>
              </a:rPr>
              <a:t>After</a:t>
            </a:r>
          </a:p>
        </p:txBody>
      </p:sp>
      <p:sp>
        <p:nvSpPr>
          <p:cNvPr name="TextBox 14" id="14"/>
          <p:cNvSpPr txBox="true"/>
          <p:nvPr/>
        </p:nvSpPr>
        <p:spPr>
          <a:xfrm rot="0">
            <a:off x="5928420" y="270342"/>
            <a:ext cx="6431161" cy="1530349"/>
          </a:xfrm>
          <a:prstGeom prst="rect">
            <a:avLst/>
          </a:prstGeom>
        </p:spPr>
        <p:txBody>
          <a:bodyPr anchor="t" rtlCol="false" tIns="0" lIns="0" bIns="0" rIns="0">
            <a:spAutoFit/>
          </a:bodyPr>
          <a:lstStyle/>
          <a:p>
            <a:pPr algn="ctr">
              <a:lnSpc>
                <a:spcPts val="11200"/>
              </a:lnSpc>
            </a:pPr>
            <a:r>
              <a:rPr lang="en-US" sz="8000" b="true">
                <a:solidFill>
                  <a:srgbClr val="DA0C1A"/>
                </a:solidFill>
                <a:latin typeface="ITC Avant Garde Gothic Bold"/>
                <a:ea typeface="ITC Avant Garde Gothic Bold"/>
                <a:cs typeface="ITC Avant Garde Gothic Bold"/>
                <a:sym typeface="ITC Avant Garde Gothic Bold"/>
              </a:rPr>
              <a:t>Final Project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3E7"/>
        </a:solidFill>
      </p:bgPr>
    </p:bg>
    <p:spTree>
      <p:nvGrpSpPr>
        <p:cNvPr id="1" name=""/>
        <p:cNvGrpSpPr/>
        <p:nvPr/>
      </p:nvGrpSpPr>
      <p:grpSpPr>
        <a:xfrm>
          <a:off x="0" y="0"/>
          <a:ext cx="0" cy="0"/>
          <a:chOff x="0" y="0"/>
          <a:chExt cx="0" cy="0"/>
        </a:xfrm>
      </p:grpSpPr>
      <p:sp>
        <p:nvSpPr>
          <p:cNvPr name="Freeform 2" id="2"/>
          <p:cNvSpPr/>
          <p:nvPr/>
        </p:nvSpPr>
        <p:spPr>
          <a:xfrm flipH="false" flipV="false" rot="0">
            <a:off x="5286933" y="4991378"/>
            <a:ext cx="1023096" cy="872422"/>
          </a:xfrm>
          <a:custGeom>
            <a:avLst/>
            <a:gdLst/>
            <a:ahLst/>
            <a:cxnLst/>
            <a:rect r="r" b="b" t="t" l="l"/>
            <a:pathLst>
              <a:path h="872422" w="1023096">
                <a:moveTo>
                  <a:pt x="0" y="0"/>
                </a:moveTo>
                <a:lnTo>
                  <a:pt x="1023096" y="0"/>
                </a:lnTo>
                <a:lnTo>
                  <a:pt x="1023096" y="872421"/>
                </a:lnTo>
                <a:lnTo>
                  <a:pt x="0" y="872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91408" y="4931212"/>
            <a:ext cx="991388" cy="872422"/>
          </a:xfrm>
          <a:custGeom>
            <a:avLst/>
            <a:gdLst/>
            <a:ahLst/>
            <a:cxnLst/>
            <a:rect r="r" b="b" t="t" l="l"/>
            <a:pathLst>
              <a:path h="872422" w="991388">
                <a:moveTo>
                  <a:pt x="0" y="0"/>
                </a:moveTo>
                <a:lnTo>
                  <a:pt x="991388" y="0"/>
                </a:lnTo>
                <a:lnTo>
                  <a:pt x="991388" y="872422"/>
                </a:lnTo>
                <a:lnTo>
                  <a:pt x="0" y="8724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707789" y="4991378"/>
            <a:ext cx="872422" cy="872422"/>
          </a:xfrm>
          <a:custGeom>
            <a:avLst/>
            <a:gdLst/>
            <a:ahLst/>
            <a:cxnLst/>
            <a:rect r="r" b="b" t="t" l="l"/>
            <a:pathLst>
              <a:path h="872422" w="872422">
                <a:moveTo>
                  <a:pt x="0" y="0"/>
                </a:moveTo>
                <a:lnTo>
                  <a:pt x="872422" y="0"/>
                </a:lnTo>
                <a:lnTo>
                  <a:pt x="872422" y="872421"/>
                </a:lnTo>
                <a:lnTo>
                  <a:pt x="0" y="872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6126659" y="2791597"/>
            <a:ext cx="6034683" cy="1747519"/>
          </a:xfrm>
          <a:prstGeom prst="rect">
            <a:avLst/>
          </a:prstGeom>
        </p:spPr>
        <p:txBody>
          <a:bodyPr anchor="t" rtlCol="false" tIns="0" lIns="0" bIns="0" rIns="0">
            <a:spAutoFit/>
          </a:bodyPr>
          <a:lstStyle/>
          <a:p>
            <a:pPr algn="ctr">
              <a:lnSpc>
                <a:spcPts val="12880"/>
              </a:lnSpc>
            </a:pPr>
            <a:r>
              <a:rPr lang="en-US" sz="9200" b="true">
                <a:solidFill>
                  <a:srgbClr val="DA0C1A"/>
                </a:solidFill>
                <a:latin typeface="ITC Avant Garde Gothic Bold"/>
                <a:ea typeface="ITC Avant Garde Gothic Bold"/>
                <a:cs typeface="ITC Avant Garde Gothic Bold"/>
                <a:sym typeface="ITC Avant Garde Gothic Bold"/>
              </a:rPr>
              <a:t>Thank You</a:t>
            </a:r>
          </a:p>
        </p:txBody>
      </p:sp>
      <p:sp>
        <p:nvSpPr>
          <p:cNvPr name="TextBox 6" id="6"/>
          <p:cNvSpPr txBox="true"/>
          <p:nvPr/>
        </p:nvSpPr>
        <p:spPr>
          <a:xfrm rot="0">
            <a:off x="7824371" y="6063066"/>
            <a:ext cx="2639258" cy="323215"/>
          </a:xfrm>
          <a:prstGeom prst="rect">
            <a:avLst/>
          </a:prstGeom>
        </p:spPr>
        <p:txBody>
          <a:bodyPr anchor="t" rtlCol="false" tIns="0" lIns="0" bIns="0" rIns="0">
            <a:spAutoFit/>
          </a:bodyPr>
          <a:lstStyle/>
          <a:p>
            <a:pPr algn="ctr">
              <a:lnSpc>
                <a:spcPts val="2659"/>
              </a:lnSpc>
              <a:spcBef>
                <a:spcPct val="0"/>
              </a:spcBef>
            </a:pPr>
            <a:r>
              <a:rPr lang="en-US" sz="1899">
                <a:solidFill>
                  <a:srgbClr val="DA0C1A"/>
                </a:solidFill>
                <a:latin typeface="Canva Sans"/>
                <a:ea typeface="Canva Sans"/>
                <a:cs typeface="Canva Sans"/>
                <a:sym typeface="Canva Sans"/>
              </a:rPr>
              <a:t>Happy-Code-byFarhah</a:t>
            </a:r>
          </a:p>
        </p:txBody>
      </p:sp>
      <p:sp>
        <p:nvSpPr>
          <p:cNvPr name="TextBox 7" id="7"/>
          <p:cNvSpPr txBox="true"/>
          <p:nvPr/>
        </p:nvSpPr>
        <p:spPr>
          <a:xfrm rot="0">
            <a:off x="5123635" y="6063066"/>
            <a:ext cx="1349692" cy="323215"/>
          </a:xfrm>
          <a:prstGeom prst="rect">
            <a:avLst/>
          </a:prstGeom>
        </p:spPr>
        <p:txBody>
          <a:bodyPr anchor="t" rtlCol="false" tIns="0" lIns="0" bIns="0" rIns="0">
            <a:spAutoFit/>
          </a:bodyPr>
          <a:lstStyle/>
          <a:p>
            <a:pPr algn="ctr">
              <a:lnSpc>
                <a:spcPts val="2659"/>
              </a:lnSpc>
              <a:spcBef>
                <a:spcPct val="0"/>
              </a:spcBef>
            </a:pPr>
            <a:r>
              <a:rPr lang="en-US" sz="1899">
                <a:solidFill>
                  <a:srgbClr val="DA0C1A"/>
                </a:solidFill>
                <a:latin typeface="Canva Sans"/>
                <a:ea typeface="Canva Sans"/>
                <a:cs typeface="Canva Sans"/>
                <a:sym typeface="Canva Sans"/>
              </a:rPr>
              <a:t>Farhah S.E.I</a:t>
            </a:r>
          </a:p>
        </p:txBody>
      </p:sp>
      <p:sp>
        <p:nvSpPr>
          <p:cNvPr name="TextBox 8" id="8"/>
          <p:cNvSpPr txBox="true"/>
          <p:nvPr/>
        </p:nvSpPr>
        <p:spPr>
          <a:xfrm rot="0">
            <a:off x="11370531" y="6063066"/>
            <a:ext cx="3233142" cy="323215"/>
          </a:xfrm>
          <a:prstGeom prst="rect">
            <a:avLst/>
          </a:prstGeom>
        </p:spPr>
        <p:txBody>
          <a:bodyPr anchor="t" rtlCol="false" tIns="0" lIns="0" bIns="0" rIns="0">
            <a:spAutoFit/>
          </a:bodyPr>
          <a:lstStyle/>
          <a:p>
            <a:pPr algn="ctr">
              <a:lnSpc>
                <a:spcPts val="2659"/>
              </a:lnSpc>
              <a:spcBef>
                <a:spcPct val="0"/>
              </a:spcBef>
            </a:pPr>
            <a:r>
              <a:rPr lang="en-US" sz="1899">
                <a:solidFill>
                  <a:srgbClr val="DA0C1A"/>
                </a:solidFill>
                <a:latin typeface="Canva Sans"/>
                <a:ea typeface="Canva Sans"/>
                <a:cs typeface="Canva Sans"/>
                <a:sym typeface="Canva Sans"/>
              </a:rPr>
              <a:t>farhahanalytics@gmail.com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DAHTdWeDOuY</dc:identifier>
  <dcterms:modified xsi:type="dcterms:W3CDTF">2011-08-01T06:04:30Z</dcterms:modified>
  <cp:revision>1</cp:revision>
  <dc:title>Biru dan Putih Modern Proposal Proyek Inovasi Digital Presentasi</dc:title>
</cp:coreProperties>
</file>